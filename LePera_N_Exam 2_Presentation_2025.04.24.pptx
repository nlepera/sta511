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5"/>
  </p:notesMasterIdLst>
  <p:sldIdLst>
    <p:sldId id="2561" r:id="rId2"/>
    <p:sldId id="2563" r:id="rId3"/>
    <p:sldId id="2564" r:id="rId4"/>
    <p:sldId id="2565" r:id="rId5"/>
    <p:sldId id="2566" r:id="rId6"/>
    <p:sldId id="2567" r:id="rId7"/>
    <p:sldId id="2569" r:id="rId8"/>
    <p:sldId id="2570" r:id="rId9"/>
    <p:sldId id="2571" r:id="rId10"/>
    <p:sldId id="2572" r:id="rId11"/>
    <p:sldId id="2568" r:id="rId12"/>
    <p:sldId id="2580" r:id="rId13"/>
    <p:sldId id="2582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9342542-BB87-4ABF-B221-788000D6E95A}" v="195" dt="2025-04-24T12:20:28.865"/>
    <p1510:client id="{83D459CD-3C52-4D23-A508-96E337612242}" v="6" dt="2025-04-24T19:07:59.25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7675" autoAdjust="0"/>
  </p:normalViewPr>
  <p:slideViewPr>
    <p:cSldViewPr snapToGrid="0">
      <p:cViewPr varScale="1">
        <p:scale>
          <a:sx n="106" d="100"/>
          <a:sy n="106" d="100"/>
        </p:scale>
        <p:origin x="1099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talie LePera" userId="cd153304780abd6f" providerId="LiveId" clId="{83D459CD-3C52-4D23-A508-96E337612242}"/>
    <pc:docChg chg="modSld">
      <pc:chgData name="Natalie LePera" userId="cd153304780abd6f" providerId="LiveId" clId="{83D459CD-3C52-4D23-A508-96E337612242}" dt="2025-04-24T19:10:12.535" v="14" actId="20577"/>
      <pc:docMkLst>
        <pc:docMk/>
      </pc:docMkLst>
      <pc:sldChg chg="modSp mod">
        <pc:chgData name="Natalie LePera" userId="cd153304780abd6f" providerId="LiveId" clId="{83D459CD-3C52-4D23-A508-96E337612242}" dt="2025-04-24T19:10:12.535" v="14" actId="20577"/>
        <pc:sldMkLst>
          <pc:docMk/>
          <pc:sldMk cId="4220984338" sldId="2565"/>
        </pc:sldMkLst>
        <pc:spChg chg="mod">
          <ac:chgData name="Natalie LePera" userId="cd153304780abd6f" providerId="LiveId" clId="{83D459CD-3C52-4D23-A508-96E337612242}" dt="2025-04-24T19:10:12.535" v="14" actId="20577"/>
          <ac:spMkLst>
            <pc:docMk/>
            <pc:sldMk cId="4220984338" sldId="2565"/>
            <ac:spMk id="2" creationId="{B7845610-A311-74D7-E31E-1B6634B4079A}"/>
          </ac:spMkLst>
        </pc:spChg>
      </pc:sldChg>
      <pc:sldChg chg="delSp">
        <pc:chgData name="Natalie LePera" userId="cd153304780abd6f" providerId="LiveId" clId="{83D459CD-3C52-4D23-A508-96E337612242}" dt="2025-04-24T19:07:59.257" v="5" actId="478"/>
        <pc:sldMkLst>
          <pc:docMk/>
          <pc:sldMk cId="4287802085" sldId="2568"/>
        </pc:sldMkLst>
        <pc:picChg chg="del">
          <ac:chgData name="Natalie LePera" userId="cd153304780abd6f" providerId="LiveId" clId="{83D459CD-3C52-4D23-A508-96E337612242}" dt="2025-04-24T19:07:50.844" v="0" actId="478"/>
          <ac:picMkLst>
            <pc:docMk/>
            <pc:sldMk cId="4287802085" sldId="2568"/>
            <ac:picMk id="1031" creationId="{A2BAB10F-438A-3124-301F-EDF492D10B26}"/>
          </ac:picMkLst>
        </pc:picChg>
        <pc:picChg chg="del">
          <ac:chgData name="Natalie LePera" userId="cd153304780abd6f" providerId="LiveId" clId="{83D459CD-3C52-4D23-A508-96E337612242}" dt="2025-04-24T19:07:52.202" v="1" actId="478"/>
          <ac:picMkLst>
            <pc:docMk/>
            <pc:sldMk cId="4287802085" sldId="2568"/>
            <ac:picMk id="1032" creationId="{EA340663-40C7-C2F6-54E3-79397B72E408}"/>
          </ac:picMkLst>
        </pc:picChg>
        <pc:picChg chg="del">
          <ac:chgData name="Natalie LePera" userId="cd153304780abd6f" providerId="LiveId" clId="{83D459CD-3C52-4D23-A508-96E337612242}" dt="2025-04-24T19:07:53.330" v="2" actId="478"/>
          <ac:picMkLst>
            <pc:docMk/>
            <pc:sldMk cId="4287802085" sldId="2568"/>
            <ac:picMk id="1033" creationId="{72656AB1-9C08-5D61-9B6E-DF77EBCD0E48}"/>
          </ac:picMkLst>
        </pc:picChg>
        <pc:picChg chg="del">
          <ac:chgData name="Natalie LePera" userId="cd153304780abd6f" providerId="LiveId" clId="{83D459CD-3C52-4D23-A508-96E337612242}" dt="2025-04-24T19:07:54.401" v="3" actId="478"/>
          <ac:picMkLst>
            <pc:docMk/>
            <pc:sldMk cId="4287802085" sldId="2568"/>
            <ac:picMk id="1034" creationId="{AFC82C77-2F20-13C4-1B1D-E29B2B8A701A}"/>
          </ac:picMkLst>
        </pc:picChg>
        <pc:picChg chg="del">
          <ac:chgData name="Natalie LePera" userId="cd153304780abd6f" providerId="LiveId" clId="{83D459CD-3C52-4D23-A508-96E337612242}" dt="2025-04-24T19:07:55.441" v="4" actId="478"/>
          <ac:picMkLst>
            <pc:docMk/>
            <pc:sldMk cId="4287802085" sldId="2568"/>
            <ac:picMk id="1035" creationId="{2CEFD1EA-B0F7-B9D2-C3E9-029B731668FF}"/>
          </ac:picMkLst>
        </pc:picChg>
        <pc:picChg chg="del">
          <ac:chgData name="Natalie LePera" userId="cd153304780abd6f" providerId="LiveId" clId="{83D459CD-3C52-4D23-A508-96E337612242}" dt="2025-04-24T19:07:59.257" v="5" actId="478"/>
          <ac:picMkLst>
            <pc:docMk/>
            <pc:sldMk cId="4287802085" sldId="2568"/>
            <ac:picMk id="1036" creationId="{36792C3F-348F-4AFE-7B83-0830F670C49F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A9E65EE-E648-4007-8C95-0BFA7369E917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876EC62D-CDBF-43F8-B523-62673328B8B2}">
      <dgm:prSet/>
      <dgm:spPr/>
      <dgm:t>
        <a:bodyPr/>
        <a:lstStyle/>
        <a:p>
          <a:r>
            <a:rPr lang="en-US" b="1"/>
            <a:t>Purpose of splitting data by participant gender:</a:t>
          </a:r>
          <a:endParaRPr lang="en-US"/>
        </a:p>
      </dgm:t>
    </dgm:pt>
    <dgm:pt modelId="{80E56FBB-0B6D-4712-B2F0-65FCC6A38845}" type="parTrans" cxnId="{49F375D0-9E8B-4D04-8C98-B1C12C2EE9B6}">
      <dgm:prSet/>
      <dgm:spPr/>
      <dgm:t>
        <a:bodyPr/>
        <a:lstStyle/>
        <a:p>
          <a:endParaRPr lang="en-US"/>
        </a:p>
      </dgm:t>
    </dgm:pt>
    <dgm:pt modelId="{A07C4F13-3EE5-4E15-BF92-F263474110E2}" type="sibTrans" cxnId="{49F375D0-9E8B-4D04-8C98-B1C12C2EE9B6}">
      <dgm:prSet/>
      <dgm:spPr/>
      <dgm:t>
        <a:bodyPr/>
        <a:lstStyle/>
        <a:p>
          <a:endParaRPr lang="en-US"/>
        </a:p>
      </dgm:t>
    </dgm:pt>
    <dgm:pt modelId="{7CE50D8E-219F-40E5-9B31-A4B35713C5C5}">
      <dgm:prSet/>
      <dgm:spPr/>
      <dgm:t>
        <a:bodyPr/>
        <a:lstStyle/>
        <a:p>
          <a:r>
            <a:rPr lang="en-US"/>
            <a:t>Identified clear distribution differences in all characteristic ranking values</a:t>
          </a:r>
        </a:p>
      </dgm:t>
    </dgm:pt>
    <dgm:pt modelId="{90619BAD-8A6E-4A75-B836-3F5087B8778A}" type="parTrans" cxnId="{E661F35E-BC91-4B36-9E5B-9A8C8150D96C}">
      <dgm:prSet/>
      <dgm:spPr/>
      <dgm:t>
        <a:bodyPr/>
        <a:lstStyle/>
        <a:p>
          <a:endParaRPr lang="en-US"/>
        </a:p>
      </dgm:t>
    </dgm:pt>
    <dgm:pt modelId="{42200302-CD10-4784-959A-689AFEBB7294}" type="sibTrans" cxnId="{E661F35E-BC91-4B36-9E5B-9A8C8150D96C}">
      <dgm:prSet/>
      <dgm:spPr/>
      <dgm:t>
        <a:bodyPr/>
        <a:lstStyle/>
        <a:p>
          <a:endParaRPr lang="en-US"/>
        </a:p>
      </dgm:t>
    </dgm:pt>
    <dgm:pt modelId="{973D97DB-1551-424F-AD62-A2DC5C4D2DE3}">
      <dgm:prSet/>
      <dgm:spPr/>
      <dgm:t>
        <a:bodyPr/>
        <a:lstStyle/>
        <a:p>
          <a:r>
            <a:rPr lang="en-US"/>
            <a:t>Allows for unique matching approaches</a:t>
          </a:r>
        </a:p>
      </dgm:t>
    </dgm:pt>
    <dgm:pt modelId="{3CA681E3-60D4-4B17-A50E-9497E91F1C4E}" type="parTrans" cxnId="{7BEA63A0-5C8B-4482-8CD3-53BB1CA9C57D}">
      <dgm:prSet/>
      <dgm:spPr/>
      <dgm:t>
        <a:bodyPr/>
        <a:lstStyle/>
        <a:p>
          <a:endParaRPr lang="en-US"/>
        </a:p>
      </dgm:t>
    </dgm:pt>
    <dgm:pt modelId="{7DADAECB-B468-4C39-A22F-2EDAF80B4A14}" type="sibTrans" cxnId="{7BEA63A0-5C8B-4482-8CD3-53BB1CA9C57D}">
      <dgm:prSet/>
      <dgm:spPr/>
      <dgm:t>
        <a:bodyPr/>
        <a:lstStyle/>
        <a:p>
          <a:endParaRPr lang="en-US"/>
        </a:p>
      </dgm:t>
    </dgm:pt>
    <dgm:pt modelId="{F1D31A36-2ECB-400B-8040-5284C3C4B830}">
      <dgm:prSet/>
      <dgm:spPr/>
      <dgm:t>
        <a:bodyPr/>
        <a:lstStyle/>
        <a:p>
          <a:r>
            <a:rPr lang="en-US"/>
            <a:t>Acknowledges preferences are not one-size fits all</a:t>
          </a:r>
        </a:p>
      </dgm:t>
    </dgm:pt>
    <dgm:pt modelId="{5670E5DC-D1BF-48CC-B31E-66F633FAA37F}" type="parTrans" cxnId="{60577CEC-1D28-413D-9B5B-515EA85F4E29}">
      <dgm:prSet/>
      <dgm:spPr/>
      <dgm:t>
        <a:bodyPr/>
        <a:lstStyle/>
        <a:p>
          <a:endParaRPr lang="en-US"/>
        </a:p>
      </dgm:t>
    </dgm:pt>
    <dgm:pt modelId="{FEAFF537-09FB-4941-B6B4-1868AC26BDF6}" type="sibTrans" cxnId="{60577CEC-1D28-413D-9B5B-515EA85F4E29}">
      <dgm:prSet/>
      <dgm:spPr/>
      <dgm:t>
        <a:bodyPr/>
        <a:lstStyle/>
        <a:p>
          <a:endParaRPr lang="en-US"/>
        </a:p>
      </dgm:t>
    </dgm:pt>
    <dgm:pt modelId="{F39F4B48-DA4F-4B31-B4A7-99880C28B2E5}">
      <dgm:prSet/>
      <dgm:spPr/>
      <dgm:t>
        <a:bodyPr/>
        <a:lstStyle/>
        <a:p>
          <a:r>
            <a:rPr lang="en-US" b="1"/>
            <a:t>Male preferences:</a:t>
          </a:r>
          <a:endParaRPr lang="en-US"/>
        </a:p>
      </dgm:t>
    </dgm:pt>
    <dgm:pt modelId="{E9D550C6-40FE-4A7F-A6A4-49B5A07FDF26}" type="parTrans" cxnId="{F87EAE95-4B68-4D4F-AF3F-7D940CDB61FC}">
      <dgm:prSet/>
      <dgm:spPr/>
      <dgm:t>
        <a:bodyPr/>
        <a:lstStyle/>
        <a:p>
          <a:endParaRPr lang="en-US"/>
        </a:p>
      </dgm:t>
    </dgm:pt>
    <dgm:pt modelId="{D3DCFF51-7E3F-468C-87E1-17B49E99485F}" type="sibTrans" cxnId="{F87EAE95-4B68-4D4F-AF3F-7D940CDB61FC}">
      <dgm:prSet/>
      <dgm:spPr/>
      <dgm:t>
        <a:bodyPr/>
        <a:lstStyle/>
        <a:p>
          <a:endParaRPr lang="en-US"/>
        </a:p>
      </dgm:t>
    </dgm:pt>
    <dgm:pt modelId="{4C408731-7905-4DA1-B544-B96DE0C5B13F}">
      <dgm:prSet/>
      <dgm:spPr/>
      <dgm:t>
        <a:bodyPr/>
        <a:lstStyle/>
        <a:p>
          <a:r>
            <a:rPr lang="en-US" b="1"/>
            <a:t>Fun, Attractiveness </a:t>
          </a:r>
          <a:r>
            <a:rPr lang="en-US"/>
            <a:t>(twice!), </a:t>
          </a:r>
          <a:r>
            <a:rPr lang="en-US" b="1"/>
            <a:t>Sincerity, Shared Interests</a:t>
          </a:r>
          <a:endParaRPr lang="en-US"/>
        </a:p>
      </dgm:t>
    </dgm:pt>
    <dgm:pt modelId="{75594B73-0539-4B06-A7C7-410A7909D121}" type="parTrans" cxnId="{985B06AE-88C6-43F5-8A6D-63675F0BE9D3}">
      <dgm:prSet/>
      <dgm:spPr/>
      <dgm:t>
        <a:bodyPr/>
        <a:lstStyle/>
        <a:p>
          <a:endParaRPr lang="en-US"/>
        </a:p>
      </dgm:t>
    </dgm:pt>
    <dgm:pt modelId="{5ADEA1D3-F8B8-4F38-99D3-55B112A96CD6}" type="sibTrans" cxnId="{985B06AE-88C6-43F5-8A6D-63675F0BE9D3}">
      <dgm:prSet/>
      <dgm:spPr/>
      <dgm:t>
        <a:bodyPr/>
        <a:lstStyle/>
        <a:p>
          <a:endParaRPr lang="en-US"/>
        </a:p>
      </dgm:t>
    </dgm:pt>
    <dgm:pt modelId="{C9095869-4769-46B9-81EF-0F84262A87E6}">
      <dgm:prSet/>
      <dgm:spPr/>
      <dgm:t>
        <a:bodyPr/>
        <a:lstStyle/>
        <a:p>
          <a:r>
            <a:rPr lang="en-US" b="1"/>
            <a:t>Female Preferences:</a:t>
          </a:r>
          <a:endParaRPr lang="en-US"/>
        </a:p>
      </dgm:t>
    </dgm:pt>
    <dgm:pt modelId="{651EEDE3-5E29-490D-9DD3-6ADCA8E5DF39}" type="parTrans" cxnId="{44FCF876-BA02-44BE-A53B-0C2C00B6F723}">
      <dgm:prSet/>
      <dgm:spPr/>
      <dgm:t>
        <a:bodyPr/>
        <a:lstStyle/>
        <a:p>
          <a:endParaRPr lang="en-US"/>
        </a:p>
      </dgm:t>
    </dgm:pt>
    <dgm:pt modelId="{EB87C3F7-9E89-417C-AAF0-FABEC52F6712}" type="sibTrans" cxnId="{44FCF876-BA02-44BE-A53B-0C2C00B6F723}">
      <dgm:prSet/>
      <dgm:spPr/>
      <dgm:t>
        <a:bodyPr/>
        <a:lstStyle/>
        <a:p>
          <a:endParaRPr lang="en-US"/>
        </a:p>
      </dgm:t>
    </dgm:pt>
    <dgm:pt modelId="{8E54FE50-69DB-4922-B29B-481883A921C6}">
      <dgm:prSet/>
      <dgm:spPr/>
      <dgm:t>
        <a:bodyPr/>
        <a:lstStyle/>
        <a:p>
          <a:r>
            <a:rPr lang="en-US" b="1"/>
            <a:t>Attractiveness, Fun, Sincerity</a:t>
          </a:r>
          <a:r>
            <a:rPr lang="en-US"/>
            <a:t>, Intelligence (twice!), </a:t>
          </a:r>
          <a:r>
            <a:rPr lang="en-US" b="1"/>
            <a:t>Shared Interests</a:t>
          </a:r>
          <a:endParaRPr lang="en-US"/>
        </a:p>
      </dgm:t>
    </dgm:pt>
    <dgm:pt modelId="{129618AD-A8A4-4032-84A7-16DD35A01448}" type="parTrans" cxnId="{574567F7-C99F-4E3C-8B4B-D496C5399DE6}">
      <dgm:prSet/>
      <dgm:spPr/>
      <dgm:t>
        <a:bodyPr/>
        <a:lstStyle/>
        <a:p>
          <a:endParaRPr lang="en-US"/>
        </a:p>
      </dgm:t>
    </dgm:pt>
    <dgm:pt modelId="{3A13AB82-C56A-4CF0-A0C8-88BD1CF173A3}" type="sibTrans" cxnId="{574567F7-C99F-4E3C-8B4B-D496C5399DE6}">
      <dgm:prSet/>
      <dgm:spPr/>
      <dgm:t>
        <a:bodyPr/>
        <a:lstStyle/>
        <a:p>
          <a:endParaRPr lang="en-US"/>
        </a:p>
      </dgm:t>
    </dgm:pt>
    <dgm:pt modelId="{4DA31E4F-EB16-4810-9100-9459670619F4}">
      <dgm:prSet/>
      <dgm:spPr/>
      <dgm:t>
        <a:bodyPr/>
        <a:lstStyle/>
        <a:p>
          <a:r>
            <a:rPr lang="en-US" b="1"/>
            <a:t>Takeaway:</a:t>
          </a:r>
          <a:endParaRPr lang="en-US"/>
        </a:p>
      </dgm:t>
    </dgm:pt>
    <dgm:pt modelId="{F000DF33-9253-4D3C-927A-05F6F30722A4}" type="parTrans" cxnId="{402DAB8F-D561-45CD-84BA-35851EE5D1DB}">
      <dgm:prSet/>
      <dgm:spPr/>
      <dgm:t>
        <a:bodyPr/>
        <a:lstStyle/>
        <a:p>
          <a:endParaRPr lang="en-US"/>
        </a:p>
      </dgm:t>
    </dgm:pt>
    <dgm:pt modelId="{7382C42D-4C8E-408C-A87A-E00E141062FC}" type="sibTrans" cxnId="{402DAB8F-D561-45CD-84BA-35851EE5D1DB}">
      <dgm:prSet/>
      <dgm:spPr/>
      <dgm:t>
        <a:bodyPr/>
        <a:lstStyle/>
        <a:p>
          <a:endParaRPr lang="en-US"/>
        </a:p>
      </dgm:t>
    </dgm:pt>
    <dgm:pt modelId="{585820BA-1F60-4439-BDFF-1D3F3F7A6F67}">
      <dgm:prSet/>
      <dgm:spPr/>
      <dgm:t>
        <a:bodyPr/>
        <a:lstStyle/>
        <a:p>
          <a:r>
            <a:rPr lang="en-US"/>
            <a:t>Both genders value: fun, attractiveness, sincerity, &amp; shared interests</a:t>
          </a:r>
        </a:p>
      </dgm:t>
    </dgm:pt>
    <dgm:pt modelId="{F4EA5039-ED63-428A-8985-E2A54FE6CB27}" type="parTrans" cxnId="{EFCA9744-34EA-4768-89CB-202799A9DDB8}">
      <dgm:prSet/>
      <dgm:spPr/>
      <dgm:t>
        <a:bodyPr/>
        <a:lstStyle/>
        <a:p>
          <a:endParaRPr lang="en-US"/>
        </a:p>
      </dgm:t>
    </dgm:pt>
    <dgm:pt modelId="{32FA4E71-5835-4B3D-815B-86A574BCB94A}" type="sibTrans" cxnId="{EFCA9744-34EA-4768-89CB-202799A9DDB8}">
      <dgm:prSet/>
      <dgm:spPr/>
      <dgm:t>
        <a:bodyPr/>
        <a:lstStyle/>
        <a:p>
          <a:endParaRPr lang="en-US"/>
        </a:p>
      </dgm:t>
    </dgm:pt>
    <dgm:pt modelId="{8CA30409-5E5A-44AC-9FAD-66EFABAD0251}">
      <dgm:prSet/>
      <dgm:spPr/>
      <dgm:t>
        <a:bodyPr/>
        <a:lstStyle/>
        <a:p>
          <a:r>
            <a:rPr lang="en-US"/>
            <a:t>Men value </a:t>
          </a:r>
          <a:r>
            <a:rPr lang="en-US" u="sng"/>
            <a:t>attractiveness</a:t>
          </a:r>
          <a:r>
            <a:rPr lang="en-US"/>
            <a:t> more than women (present in 2 pairwise interactions)</a:t>
          </a:r>
        </a:p>
      </dgm:t>
    </dgm:pt>
    <dgm:pt modelId="{6E0AF445-FE8B-4D8F-AC7F-B18B29D37BE8}" type="parTrans" cxnId="{7C00ED0D-450F-47E2-B432-DEF07693822A}">
      <dgm:prSet/>
      <dgm:spPr/>
      <dgm:t>
        <a:bodyPr/>
        <a:lstStyle/>
        <a:p>
          <a:endParaRPr lang="en-US"/>
        </a:p>
      </dgm:t>
    </dgm:pt>
    <dgm:pt modelId="{E09E8A2E-625F-4246-A878-05DE581ACC1E}" type="sibTrans" cxnId="{7C00ED0D-450F-47E2-B432-DEF07693822A}">
      <dgm:prSet/>
      <dgm:spPr/>
      <dgm:t>
        <a:bodyPr/>
        <a:lstStyle/>
        <a:p>
          <a:endParaRPr lang="en-US"/>
        </a:p>
      </dgm:t>
    </dgm:pt>
    <dgm:pt modelId="{50E27DF7-5246-4539-8AD1-37084A7CB620}">
      <dgm:prSet/>
      <dgm:spPr/>
      <dgm:t>
        <a:bodyPr/>
        <a:lstStyle/>
        <a:p>
          <a:r>
            <a:rPr lang="en-US" dirty="0"/>
            <a:t>Women value </a:t>
          </a:r>
          <a:r>
            <a:rPr lang="en-US" u="sng" dirty="0"/>
            <a:t>intelligence</a:t>
          </a:r>
          <a:r>
            <a:rPr lang="en-US" dirty="0"/>
            <a:t> more than men (present in 2 pairwise interactions &amp; missing from male model)</a:t>
          </a:r>
        </a:p>
      </dgm:t>
    </dgm:pt>
    <dgm:pt modelId="{64117CF9-5178-444C-86FD-F7C74AE57A73}" type="parTrans" cxnId="{58B49893-2437-42E1-BC01-F713F8B6D32E}">
      <dgm:prSet/>
      <dgm:spPr/>
      <dgm:t>
        <a:bodyPr/>
        <a:lstStyle/>
        <a:p>
          <a:endParaRPr lang="en-US"/>
        </a:p>
      </dgm:t>
    </dgm:pt>
    <dgm:pt modelId="{4FA78FBF-67A0-4407-9E2C-09D2E96F6CF5}" type="sibTrans" cxnId="{58B49893-2437-42E1-BC01-F713F8B6D32E}">
      <dgm:prSet/>
      <dgm:spPr/>
      <dgm:t>
        <a:bodyPr/>
        <a:lstStyle/>
        <a:p>
          <a:endParaRPr lang="en-US"/>
        </a:p>
      </dgm:t>
    </dgm:pt>
    <dgm:pt modelId="{AD78476B-0B79-422A-AE52-53C8C0495A92}" type="pres">
      <dgm:prSet presAssocID="{5A9E65EE-E648-4007-8C95-0BFA7369E917}" presName="linear" presStyleCnt="0">
        <dgm:presLayoutVars>
          <dgm:dir/>
          <dgm:animLvl val="lvl"/>
          <dgm:resizeHandles val="exact"/>
        </dgm:presLayoutVars>
      </dgm:prSet>
      <dgm:spPr/>
    </dgm:pt>
    <dgm:pt modelId="{DF3100A1-BCBD-4AB7-B8A2-58AD5867A586}" type="pres">
      <dgm:prSet presAssocID="{876EC62D-CDBF-43F8-B523-62673328B8B2}" presName="parentLin" presStyleCnt="0"/>
      <dgm:spPr/>
    </dgm:pt>
    <dgm:pt modelId="{8C644191-FE09-402E-8BFD-FC81ADE02587}" type="pres">
      <dgm:prSet presAssocID="{876EC62D-CDBF-43F8-B523-62673328B8B2}" presName="parentLeftMargin" presStyleLbl="node1" presStyleIdx="0" presStyleCnt="4"/>
      <dgm:spPr/>
    </dgm:pt>
    <dgm:pt modelId="{9F86BE7C-56E3-45E0-BE48-DF2C58146153}" type="pres">
      <dgm:prSet presAssocID="{876EC62D-CDBF-43F8-B523-62673328B8B2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7608118A-9E19-4AC4-8E36-6C2A755E4F06}" type="pres">
      <dgm:prSet presAssocID="{876EC62D-CDBF-43F8-B523-62673328B8B2}" presName="negativeSpace" presStyleCnt="0"/>
      <dgm:spPr/>
    </dgm:pt>
    <dgm:pt modelId="{A458D573-3B89-4A2F-95CD-F83D3D048084}" type="pres">
      <dgm:prSet presAssocID="{876EC62D-CDBF-43F8-B523-62673328B8B2}" presName="childText" presStyleLbl="conFgAcc1" presStyleIdx="0" presStyleCnt="4">
        <dgm:presLayoutVars>
          <dgm:bulletEnabled val="1"/>
        </dgm:presLayoutVars>
      </dgm:prSet>
      <dgm:spPr/>
    </dgm:pt>
    <dgm:pt modelId="{978CA05D-9611-442C-9918-F99AB0FE5A65}" type="pres">
      <dgm:prSet presAssocID="{A07C4F13-3EE5-4E15-BF92-F263474110E2}" presName="spaceBetweenRectangles" presStyleCnt="0"/>
      <dgm:spPr/>
    </dgm:pt>
    <dgm:pt modelId="{63BCA0EF-41FE-47D2-89B4-A75041498F58}" type="pres">
      <dgm:prSet presAssocID="{F39F4B48-DA4F-4B31-B4A7-99880C28B2E5}" presName="parentLin" presStyleCnt="0"/>
      <dgm:spPr/>
    </dgm:pt>
    <dgm:pt modelId="{18B1BBA6-54BA-4F78-B1B2-DBF4EDBD0C60}" type="pres">
      <dgm:prSet presAssocID="{F39F4B48-DA4F-4B31-B4A7-99880C28B2E5}" presName="parentLeftMargin" presStyleLbl="node1" presStyleIdx="0" presStyleCnt="4"/>
      <dgm:spPr/>
    </dgm:pt>
    <dgm:pt modelId="{CC6036C7-01BE-49FD-8416-E8CF4A9305C4}" type="pres">
      <dgm:prSet presAssocID="{F39F4B48-DA4F-4B31-B4A7-99880C28B2E5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2D691766-9A13-455D-9BDB-88CCF01EE027}" type="pres">
      <dgm:prSet presAssocID="{F39F4B48-DA4F-4B31-B4A7-99880C28B2E5}" presName="negativeSpace" presStyleCnt="0"/>
      <dgm:spPr/>
    </dgm:pt>
    <dgm:pt modelId="{A62E7B8F-15A6-4A1D-BEC1-C2427F7CC93F}" type="pres">
      <dgm:prSet presAssocID="{F39F4B48-DA4F-4B31-B4A7-99880C28B2E5}" presName="childText" presStyleLbl="conFgAcc1" presStyleIdx="1" presStyleCnt="4">
        <dgm:presLayoutVars>
          <dgm:bulletEnabled val="1"/>
        </dgm:presLayoutVars>
      </dgm:prSet>
      <dgm:spPr/>
    </dgm:pt>
    <dgm:pt modelId="{9CC499D9-E49F-474B-8A5C-C0FA85575736}" type="pres">
      <dgm:prSet presAssocID="{D3DCFF51-7E3F-468C-87E1-17B49E99485F}" presName="spaceBetweenRectangles" presStyleCnt="0"/>
      <dgm:spPr/>
    </dgm:pt>
    <dgm:pt modelId="{4D338206-CE7C-4626-B5DD-CAC9AE4F1936}" type="pres">
      <dgm:prSet presAssocID="{C9095869-4769-46B9-81EF-0F84262A87E6}" presName="parentLin" presStyleCnt="0"/>
      <dgm:spPr/>
    </dgm:pt>
    <dgm:pt modelId="{7AF6C120-BF1B-46B1-8670-1BB291768467}" type="pres">
      <dgm:prSet presAssocID="{C9095869-4769-46B9-81EF-0F84262A87E6}" presName="parentLeftMargin" presStyleLbl="node1" presStyleIdx="1" presStyleCnt="4"/>
      <dgm:spPr/>
    </dgm:pt>
    <dgm:pt modelId="{06A72D10-F9DE-4073-BA4E-BC380D64ACF0}" type="pres">
      <dgm:prSet presAssocID="{C9095869-4769-46B9-81EF-0F84262A87E6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2213621E-381C-4323-A421-F7DD5832798E}" type="pres">
      <dgm:prSet presAssocID="{C9095869-4769-46B9-81EF-0F84262A87E6}" presName="negativeSpace" presStyleCnt="0"/>
      <dgm:spPr/>
    </dgm:pt>
    <dgm:pt modelId="{4A1DCA56-60A5-429A-9068-10C763DC714D}" type="pres">
      <dgm:prSet presAssocID="{C9095869-4769-46B9-81EF-0F84262A87E6}" presName="childText" presStyleLbl="conFgAcc1" presStyleIdx="2" presStyleCnt="4">
        <dgm:presLayoutVars>
          <dgm:bulletEnabled val="1"/>
        </dgm:presLayoutVars>
      </dgm:prSet>
      <dgm:spPr/>
    </dgm:pt>
    <dgm:pt modelId="{C6DF2B61-BFAD-4953-A11D-11A74929E1A1}" type="pres">
      <dgm:prSet presAssocID="{EB87C3F7-9E89-417C-AAF0-FABEC52F6712}" presName="spaceBetweenRectangles" presStyleCnt="0"/>
      <dgm:spPr/>
    </dgm:pt>
    <dgm:pt modelId="{7DC62B54-8085-4922-8E7D-9B7EAC0F6528}" type="pres">
      <dgm:prSet presAssocID="{4DA31E4F-EB16-4810-9100-9459670619F4}" presName="parentLin" presStyleCnt="0"/>
      <dgm:spPr/>
    </dgm:pt>
    <dgm:pt modelId="{5371FEA2-A62B-45DB-9F28-AD6D0E9E9439}" type="pres">
      <dgm:prSet presAssocID="{4DA31E4F-EB16-4810-9100-9459670619F4}" presName="parentLeftMargin" presStyleLbl="node1" presStyleIdx="2" presStyleCnt="4"/>
      <dgm:spPr/>
    </dgm:pt>
    <dgm:pt modelId="{FCFF40D4-DE17-4786-BE7A-D1810E409163}" type="pres">
      <dgm:prSet presAssocID="{4DA31E4F-EB16-4810-9100-9459670619F4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C1BE6C81-89B4-4E12-AC5F-029F3259AE25}" type="pres">
      <dgm:prSet presAssocID="{4DA31E4F-EB16-4810-9100-9459670619F4}" presName="negativeSpace" presStyleCnt="0"/>
      <dgm:spPr/>
    </dgm:pt>
    <dgm:pt modelId="{46A6236B-5728-47A3-8E5D-8A6EA045764C}" type="pres">
      <dgm:prSet presAssocID="{4DA31E4F-EB16-4810-9100-9459670619F4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DAA21A06-0AFD-4DA7-A25F-55781394062C}" type="presOf" srcId="{876EC62D-CDBF-43F8-B523-62673328B8B2}" destId="{8C644191-FE09-402E-8BFD-FC81ADE02587}" srcOrd="0" destOrd="0" presId="urn:microsoft.com/office/officeart/2005/8/layout/list1"/>
    <dgm:cxn modelId="{7C00ED0D-450F-47E2-B432-DEF07693822A}" srcId="{4DA31E4F-EB16-4810-9100-9459670619F4}" destId="{8CA30409-5E5A-44AC-9FAD-66EFABAD0251}" srcOrd="1" destOrd="0" parTransId="{6E0AF445-FE8B-4D8F-AC7F-B18B29D37BE8}" sibTransId="{E09E8A2E-625F-4246-A878-05DE581ACC1E}"/>
    <dgm:cxn modelId="{0D1ABE12-062C-42CF-A42E-D63780B26C9B}" type="presOf" srcId="{50E27DF7-5246-4539-8AD1-37084A7CB620}" destId="{46A6236B-5728-47A3-8E5D-8A6EA045764C}" srcOrd="0" destOrd="2" presId="urn:microsoft.com/office/officeart/2005/8/layout/list1"/>
    <dgm:cxn modelId="{58F28540-FDBE-4466-AC20-91E0C82FF9D3}" type="presOf" srcId="{8E54FE50-69DB-4922-B29B-481883A921C6}" destId="{4A1DCA56-60A5-429A-9068-10C763DC714D}" srcOrd="0" destOrd="0" presId="urn:microsoft.com/office/officeart/2005/8/layout/list1"/>
    <dgm:cxn modelId="{1A28035D-2D8B-4096-877B-81DC6F42E189}" type="presOf" srcId="{F39F4B48-DA4F-4B31-B4A7-99880C28B2E5}" destId="{CC6036C7-01BE-49FD-8416-E8CF4A9305C4}" srcOrd="1" destOrd="0" presId="urn:microsoft.com/office/officeart/2005/8/layout/list1"/>
    <dgm:cxn modelId="{E661F35E-BC91-4B36-9E5B-9A8C8150D96C}" srcId="{876EC62D-CDBF-43F8-B523-62673328B8B2}" destId="{7CE50D8E-219F-40E5-9B31-A4B35713C5C5}" srcOrd="0" destOrd="0" parTransId="{90619BAD-8A6E-4A75-B836-3F5087B8778A}" sibTransId="{42200302-CD10-4784-959A-689AFEBB7294}"/>
    <dgm:cxn modelId="{EFCA9744-34EA-4768-89CB-202799A9DDB8}" srcId="{4DA31E4F-EB16-4810-9100-9459670619F4}" destId="{585820BA-1F60-4439-BDFF-1D3F3F7A6F67}" srcOrd="0" destOrd="0" parTransId="{F4EA5039-ED63-428A-8985-E2A54FE6CB27}" sibTransId="{32FA4E71-5835-4B3D-815B-86A574BCB94A}"/>
    <dgm:cxn modelId="{E7D47C6A-CD7B-4D8C-AF47-70535FD1644E}" type="presOf" srcId="{8CA30409-5E5A-44AC-9FAD-66EFABAD0251}" destId="{46A6236B-5728-47A3-8E5D-8A6EA045764C}" srcOrd="0" destOrd="1" presId="urn:microsoft.com/office/officeart/2005/8/layout/list1"/>
    <dgm:cxn modelId="{303D9A6A-130C-43CA-B562-64EAAAAB3B9E}" type="presOf" srcId="{F39F4B48-DA4F-4B31-B4A7-99880C28B2E5}" destId="{18B1BBA6-54BA-4F78-B1B2-DBF4EDBD0C60}" srcOrd="0" destOrd="0" presId="urn:microsoft.com/office/officeart/2005/8/layout/list1"/>
    <dgm:cxn modelId="{289FF86F-4695-44DC-BB1A-7C3360500071}" type="presOf" srcId="{876EC62D-CDBF-43F8-B523-62673328B8B2}" destId="{9F86BE7C-56E3-45E0-BE48-DF2C58146153}" srcOrd="1" destOrd="0" presId="urn:microsoft.com/office/officeart/2005/8/layout/list1"/>
    <dgm:cxn modelId="{44FCF876-BA02-44BE-A53B-0C2C00B6F723}" srcId="{5A9E65EE-E648-4007-8C95-0BFA7369E917}" destId="{C9095869-4769-46B9-81EF-0F84262A87E6}" srcOrd="2" destOrd="0" parTransId="{651EEDE3-5E29-490D-9DD3-6ADCA8E5DF39}" sibTransId="{EB87C3F7-9E89-417C-AAF0-FABEC52F6712}"/>
    <dgm:cxn modelId="{C16D5778-D978-4D6E-B922-C8F85A824457}" type="presOf" srcId="{5A9E65EE-E648-4007-8C95-0BFA7369E917}" destId="{AD78476B-0B79-422A-AE52-53C8C0495A92}" srcOrd="0" destOrd="0" presId="urn:microsoft.com/office/officeart/2005/8/layout/list1"/>
    <dgm:cxn modelId="{16BD4A79-DAE9-494D-AA5C-E49378D53834}" type="presOf" srcId="{4DA31E4F-EB16-4810-9100-9459670619F4}" destId="{FCFF40D4-DE17-4786-BE7A-D1810E409163}" srcOrd="1" destOrd="0" presId="urn:microsoft.com/office/officeart/2005/8/layout/list1"/>
    <dgm:cxn modelId="{8D41FB88-D6E4-4468-9F7D-1F8C3A73A0A6}" type="presOf" srcId="{7CE50D8E-219F-40E5-9B31-A4B35713C5C5}" destId="{A458D573-3B89-4A2F-95CD-F83D3D048084}" srcOrd="0" destOrd="0" presId="urn:microsoft.com/office/officeart/2005/8/layout/list1"/>
    <dgm:cxn modelId="{5F73A88D-7720-4AAD-AA12-AD0810A1F912}" type="presOf" srcId="{585820BA-1F60-4439-BDFF-1D3F3F7A6F67}" destId="{46A6236B-5728-47A3-8E5D-8A6EA045764C}" srcOrd="0" destOrd="0" presId="urn:microsoft.com/office/officeart/2005/8/layout/list1"/>
    <dgm:cxn modelId="{402DAB8F-D561-45CD-84BA-35851EE5D1DB}" srcId="{5A9E65EE-E648-4007-8C95-0BFA7369E917}" destId="{4DA31E4F-EB16-4810-9100-9459670619F4}" srcOrd="3" destOrd="0" parTransId="{F000DF33-9253-4D3C-927A-05F6F30722A4}" sibTransId="{7382C42D-4C8E-408C-A87A-E00E141062FC}"/>
    <dgm:cxn modelId="{58B49893-2437-42E1-BC01-F713F8B6D32E}" srcId="{4DA31E4F-EB16-4810-9100-9459670619F4}" destId="{50E27DF7-5246-4539-8AD1-37084A7CB620}" srcOrd="2" destOrd="0" parTransId="{64117CF9-5178-444C-86FD-F7C74AE57A73}" sibTransId="{4FA78FBF-67A0-4407-9E2C-09D2E96F6CF5}"/>
    <dgm:cxn modelId="{F87EAE95-4B68-4D4F-AF3F-7D940CDB61FC}" srcId="{5A9E65EE-E648-4007-8C95-0BFA7369E917}" destId="{F39F4B48-DA4F-4B31-B4A7-99880C28B2E5}" srcOrd="1" destOrd="0" parTransId="{E9D550C6-40FE-4A7F-A6A4-49B5A07FDF26}" sibTransId="{D3DCFF51-7E3F-468C-87E1-17B49E99485F}"/>
    <dgm:cxn modelId="{7BEA63A0-5C8B-4482-8CD3-53BB1CA9C57D}" srcId="{876EC62D-CDBF-43F8-B523-62673328B8B2}" destId="{973D97DB-1551-424F-AD62-A2DC5C4D2DE3}" srcOrd="1" destOrd="0" parTransId="{3CA681E3-60D4-4B17-A50E-9497E91F1C4E}" sibTransId="{7DADAECB-B468-4C39-A22F-2EDAF80B4A14}"/>
    <dgm:cxn modelId="{5178ECA2-CDC8-400B-B127-2FAFE351384A}" type="presOf" srcId="{F1D31A36-2ECB-400B-8040-5284C3C4B830}" destId="{A458D573-3B89-4A2F-95CD-F83D3D048084}" srcOrd="0" destOrd="2" presId="urn:microsoft.com/office/officeart/2005/8/layout/list1"/>
    <dgm:cxn modelId="{985B06AE-88C6-43F5-8A6D-63675F0BE9D3}" srcId="{F39F4B48-DA4F-4B31-B4A7-99880C28B2E5}" destId="{4C408731-7905-4DA1-B544-B96DE0C5B13F}" srcOrd="0" destOrd="0" parTransId="{75594B73-0539-4B06-A7C7-410A7909D121}" sibTransId="{5ADEA1D3-F8B8-4F38-99D3-55B112A96CD6}"/>
    <dgm:cxn modelId="{D6E47DB6-62CE-400B-A781-2B3657F30928}" type="presOf" srcId="{C9095869-4769-46B9-81EF-0F84262A87E6}" destId="{7AF6C120-BF1B-46B1-8670-1BB291768467}" srcOrd="0" destOrd="0" presId="urn:microsoft.com/office/officeart/2005/8/layout/list1"/>
    <dgm:cxn modelId="{49F375D0-9E8B-4D04-8C98-B1C12C2EE9B6}" srcId="{5A9E65EE-E648-4007-8C95-0BFA7369E917}" destId="{876EC62D-CDBF-43F8-B523-62673328B8B2}" srcOrd="0" destOrd="0" parTransId="{80E56FBB-0B6D-4712-B2F0-65FCC6A38845}" sibTransId="{A07C4F13-3EE5-4E15-BF92-F263474110E2}"/>
    <dgm:cxn modelId="{60577CEC-1D28-413D-9B5B-515EA85F4E29}" srcId="{876EC62D-CDBF-43F8-B523-62673328B8B2}" destId="{F1D31A36-2ECB-400B-8040-5284C3C4B830}" srcOrd="2" destOrd="0" parTransId="{5670E5DC-D1BF-48CC-B31E-66F633FAA37F}" sibTransId="{FEAFF537-09FB-4941-B6B4-1868AC26BDF6}"/>
    <dgm:cxn modelId="{CB7C31EE-0E7E-4208-857D-44DDBB250AC5}" type="presOf" srcId="{C9095869-4769-46B9-81EF-0F84262A87E6}" destId="{06A72D10-F9DE-4073-BA4E-BC380D64ACF0}" srcOrd="1" destOrd="0" presId="urn:microsoft.com/office/officeart/2005/8/layout/list1"/>
    <dgm:cxn modelId="{B19400F5-5BAD-4D5B-9F14-B5AF01F64BE2}" type="presOf" srcId="{973D97DB-1551-424F-AD62-A2DC5C4D2DE3}" destId="{A458D573-3B89-4A2F-95CD-F83D3D048084}" srcOrd="0" destOrd="1" presId="urn:microsoft.com/office/officeart/2005/8/layout/list1"/>
    <dgm:cxn modelId="{25E6A8F5-03E5-4757-941E-E2EB2B510C9C}" type="presOf" srcId="{4DA31E4F-EB16-4810-9100-9459670619F4}" destId="{5371FEA2-A62B-45DB-9F28-AD6D0E9E9439}" srcOrd="0" destOrd="0" presId="urn:microsoft.com/office/officeart/2005/8/layout/list1"/>
    <dgm:cxn modelId="{574567F7-C99F-4E3C-8B4B-D496C5399DE6}" srcId="{C9095869-4769-46B9-81EF-0F84262A87E6}" destId="{8E54FE50-69DB-4922-B29B-481883A921C6}" srcOrd="0" destOrd="0" parTransId="{129618AD-A8A4-4032-84A7-16DD35A01448}" sibTransId="{3A13AB82-C56A-4CF0-A0C8-88BD1CF173A3}"/>
    <dgm:cxn modelId="{6BDB36FC-22D2-4397-B520-20EC59EC4F37}" type="presOf" srcId="{4C408731-7905-4DA1-B544-B96DE0C5B13F}" destId="{A62E7B8F-15A6-4A1D-BEC1-C2427F7CC93F}" srcOrd="0" destOrd="0" presId="urn:microsoft.com/office/officeart/2005/8/layout/list1"/>
    <dgm:cxn modelId="{24F9A2AE-792E-484A-BA60-8002E4B19F3E}" type="presParOf" srcId="{AD78476B-0B79-422A-AE52-53C8C0495A92}" destId="{DF3100A1-BCBD-4AB7-B8A2-58AD5867A586}" srcOrd="0" destOrd="0" presId="urn:microsoft.com/office/officeart/2005/8/layout/list1"/>
    <dgm:cxn modelId="{04EE2827-2D1C-4B99-93F6-398F98489833}" type="presParOf" srcId="{DF3100A1-BCBD-4AB7-B8A2-58AD5867A586}" destId="{8C644191-FE09-402E-8BFD-FC81ADE02587}" srcOrd="0" destOrd="0" presId="urn:microsoft.com/office/officeart/2005/8/layout/list1"/>
    <dgm:cxn modelId="{668A25BF-8AAD-43CF-BA0F-54A395B63AD2}" type="presParOf" srcId="{DF3100A1-BCBD-4AB7-B8A2-58AD5867A586}" destId="{9F86BE7C-56E3-45E0-BE48-DF2C58146153}" srcOrd="1" destOrd="0" presId="urn:microsoft.com/office/officeart/2005/8/layout/list1"/>
    <dgm:cxn modelId="{DE4D0E10-DA73-4734-81FF-C5631F27C2D0}" type="presParOf" srcId="{AD78476B-0B79-422A-AE52-53C8C0495A92}" destId="{7608118A-9E19-4AC4-8E36-6C2A755E4F06}" srcOrd="1" destOrd="0" presId="urn:microsoft.com/office/officeart/2005/8/layout/list1"/>
    <dgm:cxn modelId="{A358A0A0-09CB-48FE-9510-A587E41375E6}" type="presParOf" srcId="{AD78476B-0B79-422A-AE52-53C8C0495A92}" destId="{A458D573-3B89-4A2F-95CD-F83D3D048084}" srcOrd="2" destOrd="0" presId="urn:microsoft.com/office/officeart/2005/8/layout/list1"/>
    <dgm:cxn modelId="{98AF0101-3F82-41FF-867C-77AF04A14FC4}" type="presParOf" srcId="{AD78476B-0B79-422A-AE52-53C8C0495A92}" destId="{978CA05D-9611-442C-9918-F99AB0FE5A65}" srcOrd="3" destOrd="0" presId="urn:microsoft.com/office/officeart/2005/8/layout/list1"/>
    <dgm:cxn modelId="{BF7FF067-BE18-4BFF-AA0B-3D61DBF966E1}" type="presParOf" srcId="{AD78476B-0B79-422A-AE52-53C8C0495A92}" destId="{63BCA0EF-41FE-47D2-89B4-A75041498F58}" srcOrd="4" destOrd="0" presId="urn:microsoft.com/office/officeart/2005/8/layout/list1"/>
    <dgm:cxn modelId="{2E440C81-C247-40D1-91C0-398E5B9E3861}" type="presParOf" srcId="{63BCA0EF-41FE-47D2-89B4-A75041498F58}" destId="{18B1BBA6-54BA-4F78-B1B2-DBF4EDBD0C60}" srcOrd="0" destOrd="0" presId="urn:microsoft.com/office/officeart/2005/8/layout/list1"/>
    <dgm:cxn modelId="{D275B9A4-1252-48B4-9EEE-13C5A3FD1FF3}" type="presParOf" srcId="{63BCA0EF-41FE-47D2-89B4-A75041498F58}" destId="{CC6036C7-01BE-49FD-8416-E8CF4A9305C4}" srcOrd="1" destOrd="0" presId="urn:microsoft.com/office/officeart/2005/8/layout/list1"/>
    <dgm:cxn modelId="{77D3E976-CCAB-4302-AC1C-15D96F21F362}" type="presParOf" srcId="{AD78476B-0B79-422A-AE52-53C8C0495A92}" destId="{2D691766-9A13-455D-9BDB-88CCF01EE027}" srcOrd="5" destOrd="0" presId="urn:microsoft.com/office/officeart/2005/8/layout/list1"/>
    <dgm:cxn modelId="{9452DB52-CCFD-42B0-8E44-E2400C958955}" type="presParOf" srcId="{AD78476B-0B79-422A-AE52-53C8C0495A92}" destId="{A62E7B8F-15A6-4A1D-BEC1-C2427F7CC93F}" srcOrd="6" destOrd="0" presId="urn:microsoft.com/office/officeart/2005/8/layout/list1"/>
    <dgm:cxn modelId="{1E0224E0-5C38-4F57-92F3-4F7A44D43FCB}" type="presParOf" srcId="{AD78476B-0B79-422A-AE52-53C8C0495A92}" destId="{9CC499D9-E49F-474B-8A5C-C0FA85575736}" srcOrd="7" destOrd="0" presId="urn:microsoft.com/office/officeart/2005/8/layout/list1"/>
    <dgm:cxn modelId="{134BDAAE-77B9-4F4C-84DD-7FBBB86D2371}" type="presParOf" srcId="{AD78476B-0B79-422A-AE52-53C8C0495A92}" destId="{4D338206-CE7C-4626-B5DD-CAC9AE4F1936}" srcOrd="8" destOrd="0" presId="urn:microsoft.com/office/officeart/2005/8/layout/list1"/>
    <dgm:cxn modelId="{A469633A-93D4-4B31-B67E-180B36EEEB34}" type="presParOf" srcId="{4D338206-CE7C-4626-B5DD-CAC9AE4F1936}" destId="{7AF6C120-BF1B-46B1-8670-1BB291768467}" srcOrd="0" destOrd="0" presId="urn:microsoft.com/office/officeart/2005/8/layout/list1"/>
    <dgm:cxn modelId="{310AE19A-615C-4103-917E-D2FFCAEA41B0}" type="presParOf" srcId="{4D338206-CE7C-4626-B5DD-CAC9AE4F1936}" destId="{06A72D10-F9DE-4073-BA4E-BC380D64ACF0}" srcOrd="1" destOrd="0" presId="urn:microsoft.com/office/officeart/2005/8/layout/list1"/>
    <dgm:cxn modelId="{58DFC2E2-10D7-46E6-811C-2EAA5CF95512}" type="presParOf" srcId="{AD78476B-0B79-422A-AE52-53C8C0495A92}" destId="{2213621E-381C-4323-A421-F7DD5832798E}" srcOrd="9" destOrd="0" presId="urn:microsoft.com/office/officeart/2005/8/layout/list1"/>
    <dgm:cxn modelId="{7BCFF683-3B83-4EFB-B649-7FFB4F1BA528}" type="presParOf" srcId="{AD78476B-0B79-422A-AE52-53C8C0495A92}" destId="{4A1DCA56-60A5-429A-9068-10C763DC714D}" srcOrd="10" destOrd="0" presId="urn:microsoft.com/office/officeart/2005/8/layout/list1"/>
    <dgm:cxn modelId="{70CEB093-0AFB-4A51-999C-BB018A60DA87}" type="presParOf" srcId="{AD78476B-0B79-422A-AE52-53C8C0495A92}" destId="{C6DF2B61-BFAD-4953-A11D-11A74929E1A1}" srcOrd="11" destOrd="0" presId="urn:microsoft.com/office/officeart/2005/8/layout/list1"/>
    <dgm:cxn modelId="{211821E6-9000-44E7-8772-8C67E422DBBB}" type="presParOf" srcId="{AD78476B-0B79-422A-AE52-53C8C0495A92}" destId="{7DC62B54-8085-4922-8E7D-9B7EAC0F6528}" srcOrd="12" destOrd="0" presId="urn:microsoft.com/office/officeart/2005/8/layout/list1"/>
    <dgm:cxn modelId="{C3553142-1B69-495F-9A11-365B5C5EFEA2}" type="presParOf" srcId="{7DC62B54-8085-4922-8E7D-9B7EAC0F6528}" destId="{5371FEA2-A62B-45DB-9F28-AD6D0E9E9439}" srcOrd="0" destOrd="0" presId="urn:microsoft.com/office/officeart/2005/8/layout/list1"/>
    <dgm:cxn modelId="{04D876FE-20C2-4DA3-8C22-E5703C099632}" type="presParOf" srcId="{7DC62B54-8085-4922-8E7D-9B7EAC0F6528}" destId="{FCFF40D4-DE17-4786-BE7A-D1810E409163}" srcOrd="1" destOrd="0" presId="urn:microsoft.com/office/officeart/2005/8/layout/list1"/>
    <dgm:cxn modelId="{9A7D4D22-9707-466D-AD27-9996E5B81FD8}" type="presParOf" srcId="{AD78476B-0B79-422A-AE52-53C8C0495A92}" destId="{C1BE6C81-89B4-4E12-AC5F-029F3259AE25}" srcOrd="13" destOrd="0" presId="urn:microsoft.com/office/officeart/2005/8/layout/list1"/>
    <dgm:cxn modelId="{9F44CEDE-955C-4085-8813-A9DA35454C8A}" type="presParOf" srcId="{AD78476B-0B79-422A-AE52-53C8C0495A92}" destId="{46A6236B-5728-47A3-8E5D-8A6EA045764C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6F3DDF8-4DE3-4049-A567-DEB51C5AA473}" type="doc">
      <dgm:prSet loTypeId="urn:microsoft.com/office/officeart/2005/8/layout/hList1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BA74BC65-DE07-402E-AF27-D40EA51E9A40}">
      <dgm:prSet custT="1"/>
      <dgm:spPr/>
      <dgm:t>
        <a:bodyPr/>
        <a:lstStyle/>
        <a:p>
          <a:pPr>
            <a:buNone/>
          </a:pPr>
          <a:r>
            <a:rPr lang="en-US" sz="2400" b="0" dirty="0"/>
            <a:t>Gender-Specific Preferences</a:t>
          </a:r>
        </a:p>
      </dgm:t>
    </dgm:pt>
    <dgm:pt modelId="{67E35C7E-D485-4F24-B1B2-1918637D495B}" type="parTrans" cxnId="{A4450204-AB53-4310-B2E7-819AC22119F0}">
      <dgm:prSet/>
      <dgm:spPr/>
      <dgm:t>
        <a:bodyPr/>
        <a:lstStyle/>
        <a:p>
          <a:endParaRPr lang="en-US"/>
        </a:p>
      </dgm:t>
    </dgm:pt>
    <dgm:pt modelId="{C8031F1E-EFBE-4355-8524-90438A156B4D}" type="sibTrans" cxnId="{A4450204-AB53-4310-B2E7-819AC22119F0}">
      <dgm:prSet/>
      <dgm:spPr/>
      <dgm:t>
        <a:bodyPr/>
        <a:lstStyle/>
        <a:p>
          <a:endParaRPr lang="en-US"/>
        </a:p>
      </dgm:t>
    </dgm:pt>
    <dgm:pt modelId="{F167F6B3-A4E4-408A-8E5C-52D45CF485AE}">
      <dgm:prSet/>
      <dgm:spPr/>
      <dgm:t>
        <a:bodyPr/>
        <a:lstStyle/>
        <a:p>
          <a:r>
            <a:rPr lang="en-US" dirty="0"/>
            <a:t>Males value attractiveness at a greater rate than females</a:t>
          </a:r>
        </a:p>
      </dgm:t>
    </dgm:pt>
    <dgm:pt modelId="{27298C85-B85C-4EA2-9383-8E1888085964}" type="parTrans" cxnId="{7914F129-523A-401C-ABF5-383358340CE8}">
      <dgm:prSet/>
      <dgm:spPr/>
      <dgm:t>
        <a:bodyPr/>
        <a:lstStyle/>
        <a:p>
          <a:endParaRPr lang="en-US"/>
        </a:p>
      </dgm:t>
    </dgm:pt>
    <dgm:pt modelId="{7492CC38-C477-4ABC-9404-D289F702E6DF}" type="sibTrans" cxnId="{7914F129-523A-401C-ABF5-383358340CE8}">
      <dgm:prSet/>
      <dgm:spPr/>
      <dgm:t>
        <a:bodyPr/>
        <a:lstStyle/>
        <a:p>
          <a:endParaRPr lang="en-US"/>
        </a:p>
      </dgm:t>
    </dgm:pt>
    <dgm:pt modelId="{860680B5-F757-4D93-B55C-2F6FBEEF530C}">
      <dgm:prSet custT="1"/>
      <dgm:spPr/>
      <dgm:t>
        <a:bodyPr/>
        <a:lstStyle/>
        <a:p>
          <a:pPr>
            <a:buNone/>
          </a:pPr>
          <a:r>
            <a:rPr lang="en-US" sz="2400" dirty="0"/>
            <a:t>Data Integrity Recommendations</a:t>
          </a:r>
        </a:p>
      </dgm:t>
    </dgm:pt>
    <dgm:pt modelId="{9E9483EC-4F03-40DA-AB90-9424F7B55EB6}" type="parTrans" cxnId="{DEBC6706-4335-47E5-B0A7-B2EC537BA2AD}">
      <dgm:prSet/>
      <dgm:spPr/>
      <dgm:t>
        <a:bodyPr/>
        <a:lstStyle/>
        <a:p>
          <a:endParaRPr lang="en-US"/>
        </a:p>
      </dgm:t>
    </dgm:pt>
    <dgm:pt modelId="{DA406626-8D29-497A-9C4A-A35D213E7F9F}" type="sibTrans" cxnId="{DEBC6706-4335-47E5-B0A7-B2EC537BA2AD}">
      <dgm:prSet/>
      <dgm:spPr/>
      <dgm:t>
        <a:bodyPr/>
        <a:lstStyle/>
        <a:p>
          <a:endParaRPr lang="en-US"/>
        </a:p>
      </dgm:t>
    </dgm:pt>
    <dgm:pt modelId="{4E046D11-8E3F-447A-A710-AA59F51CF896}">
      <dgm:prSet custT="1"/>
      <dgm:spPr/>
      <dgm:t>
        <a:bodyPr/>
        <a:lstStyle/>
        <a:p>
          <a:r>
            <a:rPr lang="en-US" sz="2400" dirty="0"/>
            <a:t>Enhancing User Experience</a:t>
          </a:r>
        </a:p>
      </dgm:t>
    </dgm:pt>
    <dgm:pt modelId="{862F8BDC-C205-42DC-9F92-79164B484B0A}" type="parTrans" cxnId="{B24ACD84-CB2B-4758-BEB8-669296FB4620}">
      <dgm:prSet/>
      <dgm:spPr/>
      <dgm:t>
        <a:bodyPr/>
        <a:lstStyle/>
        <a:p>
          <a:endParaRPr lang="en-US"/>
        </a:p>
      </dgm:t>
    </dgm:pt>
    <dgm:pt modelId="{FFCDB1F5-D0EE-4D2F-AE85-B10C32C9A523}" type="sibTrans" cxnId="{B24ACD84-CB2B-4758-BEB8-669296FB4620}">
      <dgm:prSet/>
      <dgm:spPr/>
      <dgm:t>
        <a:bodyPr/>
        <a:lstStyle/>
        <a:p>
          <a:endParaRPr lang="en-US"/>
        </a:p>
      </dgm:t>
    </dgm:pt>
    <dgm:pt modelId="{09F9F84D-79F3-4458-B208-8732AF39F50E}">
      <dgm:prSet/>
      <dgm:spPr/>
      <dgm:t>
        <a:bodyPr/>
        <a:lstStyle/>
        <a:p>
          <a:pPr>
            <a:buNone/>
          </a:pPr>
          <a:r>
            <a:rPr lang="en-US" dirty="0"/>
            <a:t>Enhance</a:t>
          </a:r>
          <a:r>
            <a:rPr lang="en-US" baseline="0" dirty="0"/>
            <a:t> user experience using the following approaches:</a:t>
          </a:r>
          <a:endParaRPr lang="en-US" dirty="0"/>
        </a:p>
      </dgm:t>
    </dgm:pt>
    <dgm:pt modelId="{DD7FE4E1-C71A-4365-829F-83708D8D342B}" type="parTrans" cxnId="{3E9F678A-5D15-4DC3-B047-E65BA60EB806}">
      <dgm:prSet/>
      <dgm:spPr/>
      <dgm:t>
        <a:bodyPr/>
        <a:lstStyle/>
        <a:p>
          <a:endParaRPr lang="en-US"/>
        </a:p>
      </dgm:t>
    </dgm:pt>
    <dgm:pt modelId="{FEABD1D0-2F03-484D-94D8-AB8AC1A610A1}" type="sibTrans" cxnId="{3E9F678A-5D15-4DC3-B047-E65BA60EB806}">
      <dgm:prSet/>
      <dgm:spPr/>
      <dgm:t>
        <a:bodyPr/>
        <a:lstStyle/>
        <a:p>
          <a:endParaRPr lang="en-US"/>
        </a:p>
      </dgm:t>
    </dgm:pt>
    <dgm:pt modelId="{CF318AD9-3AEE-435A-914D-01743B057B28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Develop imputation procedures to predict observations for blank values</a:t>
          </a:r>
        </a:p>
        <a:p>
          <a:pPr>
            <a:buFont typeface="Arial" panose="020B0604020202020204" pitchFamily="34" charset="0"/>
            <a:buChar char="•"/>
          </a:pPr>
          <a:endParaRPr lang="en-US" dirty="0"/>
        </a:p>
      </dgm:t>
    </dgm:pt>
    <dgm:pt modelId="{75B8E455-3F42-4212-AED9-E0A7DC8D0C73}" type="parTrans" cxnId="{AE6A89E0-7A3B-43FD-A908-09EB08982050}">
      <dgm:prSet/>
      <dgm:spPr/>
      <dgm:t>
        <a:bodyPr/>
        <a:lstStyle/>
        <a:p>
          <a:endParaRPr lang="en-US"/>
        </a:p>
      </dgm:t>
    </dgm:pt>
    <dgm:pt modelId="{EA5C68C4-51B4-470A-9E85-A78D47928CB4}" type="sibTrans" cxnId="{AE6A89E0-7A3B-43FD-A908-09EB08982050}">
      <dgm:prSet/>
      <dgm:spPr/>
      <dgm:t>
        <a:bodyPr/>
        <a:lstStyle/>
        <a:p>
          <a:endParaRPr lang="en-US"/>
        </a:p>
      </dgm:t>
    </dgm:pt>
    <dgm:pt modelId="{1E6E44F1-30CE-42EF-B220-84CF3A5668B6}">
      <dgm:prSet/>
      <dgm:spPr/>
      <dgm:t>
        <a:bodyPr/>
        <a:lstStyle/>
        <a:p>
          <a:r>
            <a:rPr lang="en-US" dirty="0"/>
            <a:t>Females value intelligence while males do not</a:t>
          </a:r>
        </a:p>
        <a:p>
          <a:endParaRPr lang="en-US" dirty="0"/>
        </a:p>
      </dgm:t>
    </dgm:pt>
    <dgm:pt modelId="{BD2C7D42-5252-4DC8-8598-BF0B2A0EDDE0}" type="parTrans" cxnId="{4FB79C94-22AB-45F8-B456-B6C68E848ECC}">
      <dgm:prSet/>
      <dgm:spPr/>
      <dgm:t>
        <a:bodyPr/>
        <a:lstStyle/>
        <a:p>
          <a:endParaRPr lang="en-US"/>
        </a:p>
      </dgm:t>
    </dgm:pt>
    <dgm:pt modelId="{74E98F88-1CF3-4A24-8A70-7773A917154B}" type="sibTrans" cxnId="{4FB79C94-22AB-45F8-B456-B6C68E848ECC}">
      <dgm:prSet/>
      <dgm:spPr/>
      <dgm:t>
        <a:bodyPr/>
        <a:lstStyle/>
        <a:p>
          <a:endParaRPr lang="en-US"/>
        </a:p>
      </dgm:t>
    </dgm:pt>
    <dgm:pt modelId="{8E501611-C101-483E-A34A-B847BF6F9263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Remove options for participants to leave responses blank</a:t>
          </a:r>
        </a:p>
      </dgm:t>
    </dgm:pt>
    <dgm:pt modelId="{18120CC9-C2A1-4716-AE97-B322D2A63374}" type="parTrans" cxnId="{0066C37C-58DF-4763-8F20-064C4CACA0CC}">
      <dgm:prSet/>
      <dgm:spPr/>
      <dgm:t>
        <a:bodyPr/>
        <a:lstStyle/>
        <a:p>
          <a:endParaRPr lang="en-US"/>
        </a:p>
      </dgm:t>
    </dgm:pt>
    <dgm:pt modelId="{95E0DFE9-F73D-4F1D-95D9-45A52A9FB695}" type="sibTrans" cxnId="{0066C37C-58DF-4763-8F20-064C4CACA0CC}">
      <dgm:prSet/>
      <dgm:spPr/>
      <dgm:t>
        <a:bodyPr/>
        <a:lstStyle/>
        <a:p>
          <a:endParaRPr lang="en-US"/>
        </a:p>
      </dgm:t>
    </dgm:pt>
    <dgm:pt modelId="{1BAA861E-947F-4B12-91D7-F1811B514040}">
      <dgm:prSet/>
      <dgm:spPr/>
      <dgm:t>
        <a:bodyPr/>
        <a:lstStyle/>
        <a:p>
          <a:pPr>
            <a:buNone/>
          </a:pPr>
          <a:r>
            <a:rPr lang="en-US" dirty="0"/>
            <a:t>Blank values can skew prediction models resulting in inaccurate predictions &amp; incompatible dater pairings. </a:t>
          </a:r>
          <a:endParaRPr lang="en-US" u="sng" dirty="0"/>
        </a:p>
      </dgm:t>
    </dgm:pt>
    <dgm:pt modelId="{3421EE21-9B39-4921-A016-A5BCB17346A1}" type="parTrans" cxnId="{3AE435C3-CBD0-4410-9058-6FFF0A8706CC}">
      <dgm:prSet/>
      <dgm:spPr/>
      <dgm:t>
        <a:bodyPr/>
        <a:lstStyle/>
        <a:p>
          <a:endParaRPr lang="en-US"/>
        </a:p>
      </dgm:t>
    </dgm:pt>
    <dgm:pt modelId="{94AAE658-5F22-4743-85C2-23045AC4FF11}" type="sibTrans" cxnId="{3AE435C3-CBD0-4410-9058-6FFF0A8706CC}">
      <dgm:prSet/>
      <dgm:spPr/>
      <dgm:t>
        <a:bodyPr/>
        <a:lstStyle/>
        <a:p>
          <a:endParaRPr lang="en-US"/>
        </a:p>
      </dgm:t>
    </dgm:pt>
    <dgm:pt modelId="{CAC9EE59-C95E-4943-AB56-5FDB73E27D27}">
      <dgm:prSet/>
      <dgm:spPr/>
      <dgm:t>
        <a:bodyPr/>
        <a:lstStyle/>
        <a:p>
          <a:pPr>
            <a:buNone/>
          </a:pPr>
          <a:endParaRPr lang="en-US" dirty="0"/>
        </a:p>
        <a:p>
          <a:pPr>
            <a:buNone/>
          </a:pPr>
          <a:r>
            <a:rPr lang="en-US" u="sng" dirty="0"/>
            <a:t>Options to fix:</a:t>
          </a:r>
        </a:p>
      </dgm:t>
    </dgm:pt>
    <dgm:pt modelId="{5F072D82-B77B-410D-81ED-F2D8691C75CD}" type="parTrans" cxnId="{CC5FED6C-8BB1-4016-8404-947898A3FCDE}">
      <dgm:prSet/>
      <dgm:spPr/>
      <dgm:t>
        <a:bodyPr/>
        <a:lstStyle/>
        <a:p>
          <a:endParaRPr lang="en-US"/>
        </a:p>
      </dgm:t>
    </dgm:pt>
    <dgm:pt modelId="{1F40B577-C051-4910-867C-34622E82D6E0}" type="sibTrans" cxnId="{CC5FED6C-8BB1-4016-8404-947898A3FCDE}">
      <dgm:prSet/>
      <dgm:spPr/>
      <dgm:t>
        <a:bodyPr/>
        <a:lstStyle/>
        <a:p>
          <a:endParaRPr lang="en-US"/>
        </a:p>
      </dgm:t>
    </dgm:pt>
    <dgm:pt modelId="{24AC429B-295E-4D16-853E-7D3FDA843B60}">
      <dgm:prSet/>
      <dgm:spPr/>
      <dgm:t>
        <a:bodyPr/>
        <a:lstStyle/>
        <a:p>
          <a:r>
            <a:rPr lang="en-US" dirty="0"/>
            <a:t>Aggregate characteristic rankings across multiple evaluations for pseudo peer-review</a:t>
          </a:r>
        </a:p>
      </dgm:t>
    </dgm:pt>
    <dgm:pt modelId="{52DA62FA-8E35-402D-A94D-5F5E789BE55B}" type="parTrans" cxnId="{2672700D-3517-437F-8528-E7525163DE70}">
      <dgm:prSet/>
      <dgm:spPr/>
      <dgm:t>
        <a:bodyPr/>
        <a:lstStyle/>
        <a:p>
          <a:endParaRPr lang="en-US"/>
        </a:p>
      </dgm:t>
    </dgm:pt>
    <dgm:pt modelId="{50C91858-09FE-4B31-A587-43EAFC58D2B5}" type="sibTrans" cxnId="{2672700D-3517-437F-8528-E7525163DE70}">
      <dgm:prSet/>
      <dgm:spPr/>
      <dgm:t>
        <a:bodyPr/>
        <a:lstStyle/>
        <a:p>
          <a:endParaRPr lang="en-US"/>
        </a:p>
      </dgm:t>
    </dgm:pt>
    <dgm:pt modelId="{0030754E-A68A-4895-B81D-50ACB1E0B00C}">
      <dgm:prSet/>
      <dgm:spPr/>
      <dgm:t>
        <a:bodyPr/>
        <a:lstStyle/>
        <a:p>
          <a:r>
            <a:rPr lang="en-US" dirty="0"/>
            <a:t>Allow for minimum predicted like ranking cutoffs for matches</a:t>
          </a:r>
        </a:p>
      </dgm:t>
    </dgm:pt>
    <dgm:pt modelId="{C8C84A37-C1F2-4EB4-8C3F-4A60C910AF89}" type="parTrans" cxnId="{6ABBA850-8599-4AB0-901A-DB41F636BBEE}">
      <dgm:prSet/>
      <dgm:spPr/>
      <dgm:t>
        <a:bodyPr/>
        <a:lstStyle/>
        <a:p>
          <a:endParaRPr lang="en-US"/>
        </a:p>
      </dgm:t>
    </dgm:pt>
    <dgm:pt modelId="{3190EA7F-F489-481F-9DD6-339DCBB8819D}" type="sibTrans" cxnId="{6ABBA850-8599-4AB0-901A-DB41F636BBEE}">
      <dgm:prSet/>
      <dgm:spPr/>
      <dgm:t>
        <a:bodyPr/>
        <a:lstStyle/>
        <a:p>
          <a:endParaRPr lang="en-US"/>
        </a:p>
      </dgm:t>
    </dgm:pt>
    <dgm:pt modelId="{54918556-9476-4201-8E62-DA4E0123903C}">
      <dgm:prSet/>
      <dgm:spPr/>
      <dgm:t>
        <a:bodyPr/>
        <a:lstStyle/>
        <a:p>
          <a:r>
            <a:rPr lang="en-US" dirty="0"/>
            <a:t>Re-evaluate age groupings to determine if dater age impacts desired characteristics</a:t>
          </a:r>
        </a:p>
      </dgm:t>
    </dgm:pt>
    <dgm:pt modelId="{19B377D4-7FC7-4127-99F4-46DE9B042D0B}" type="parTrans" cxnId="{D711EA5A-E3EA-42D5-B1CB-1D840325D61B}">
      <dgm:prSet/>
      <dgm:spPr/>
      <dgm:t>
        <a:bodyPr/>
        <a:lstStyle/>
        <a:p>
          <a:endParaRPr lang="en-US"/>
        </a:p>
      </dgm:t>
    </dgm:pt>
    <dgm:pt modelId="{0585F3A1-D6D0-4C28-839B-79078A9E0664}" type="sibTrans" cxnId="{D711EA5A-E3EA-42D5-B1CB-1D840325D61B}">
      <dgm:prSet/>
      <dgm:spPr/>
      <dgm:t>
        <a:bodyPr/>
        <a:lstStyle/>
        <a:p>
          <a:endParaRPr lang="en-US"/>
        </a:p>
      </dgm:t>
    </dgm:pt>
    <dgm:pt modelId="{9A11CD44-5136-4A49-BBFC-ABC810EFB5D8}">
      <dgm:prSet/>
      <dgm:spPr/>
      <dgm:t>
        <a:bodyPr/>
        <a:lstStyle/>
        <a:p>
          <a:pPr>
            <a:buNone/>
          </a:pPr>
          <a:endParaRPr lang="en-US" dirty="0"/>
        </a:p>
      </dgm:t>
    </dgm:pt>
    <dgm:pt modelId="{26A75F7A-72BC-4250-9831-4FEF35EC03C8}" type="parTrans" cxnId="{9D97207D-3569-49D7-8100-2EEE03EE0F94}">
      <dgm:prSet/>
      <dgm:spPr/>
      <dgm:t>
        <a:bodyPr/>
        <a:lstStyle/>
        <a:p>
          <a:endParaRPr lang="en-US"/>
        </a:p>
      </dgm:t>
    </dgm:pt>
    <dgm:pt modelId="{E22DF1C9-FC31-420E-80BA-D41C8BE14328}" type="sibTrans" cxnId="{9D97207D-3569-49D7-8100-2EEE03EE0F94}">
      <dgm:prSet/>
      <dgm:spPr/>
      <dgm:t>
        <a:bodyPr/>
        <a:lstStyle/>
        <a:p>
          <a:endParaRPr lang="en-US"/>
        </a:p>
      </dgm:t>
    </dgm:pt>
    <dgm:pt modelId="{5DA5C996-9FC3-4A01-8B32-C49FB1F1FF5C}">
      <dgm:prSet/>
      <dgm:spPr/>
      <dgm:t>
        <a:bodyPr/>
        <a:lstStyle/>
        <a:p>
          <a:endParaRPr lang="en-US" dirty="0"/>
        </a:p>
      </dgm:t>
    </dgm:pt>
    <dgm:pt modelId="{D4DA4254-6C54-48B1-A75D-FE9F64CCA082}" type="parTrans" cxnId="{E4CDE82F-B1D7-4FE3-8C8D-59F6D28052A5}">
      <dgm:prSet/>
      <dgm:spPr/>
      <dgm:t>
        <a:bodyPr/>
        <a:lstStyle/>
        <a:p>
          <a:endParaRPr lang="en-US"/>
        </a:p>
      </dgm:t>
    </dgm:pt>
    <dgm:pt modelId="{61737AF7-420D-4715-BAEE-C9866627D4BA}" type="sibTrans" cxnId="{E4CDE82F-B1D7-4FE3-8C8D-59F6D28052A5}">
      <dgm:prSet/>
      <dgm:spPr/>
      <dgm:t>
        <a:bodyPr/>
        <a:lstStyle/>
        <a:p>
          <a:endParaRPr lang="en-US"/>
        </a:p>
      </dgm:t>
    </dgm:pt>
    <dgm:pt modelId="{0C9490E8-0CBE-4A6A-B468-AC7A80FB9A23}" type="pres">
      <dgm:prSet presAssocID="{06F3DDF8-4DE3-4049-A567-DEB51C5AA473}" presName="Name0" presStyleCnt="0">
        <dgm:presLayoutVars>
          <dgm:dir/>
          <dgm:animLvl val="lvl"/>
          <dgm:resizeHandles val="exact"/>
        </dgm:presLayoutVars>
      </dgm:prSet>
      <dgm:spPr/>
    </dgm:pt>
    <dgm:pt modelId="{A5BDADA4-747F-410A-BAD7-BDEB2F9273A9}" type="pres">
      <dgm:prSet presAssocID="{BA74BC65-DE07-402E-AF27-D40EA51E9A40}" presName="composite" presStyleCnt="0"/>
      <dgm:spPr/>
    </dgm:pt>
    <dgm:pt modelId="{5FC084B4-2E01-4E64-A363-38EC42E84F3D}" type="pres">
      <dgm:prSet presAssocID="{BA74BC65-DE07-402E-AF27-D40EA51E9A40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8D80F788-9035-4BA9-9A00-EB43E8D910A2}" type="pres">
      <dgm:prSet presAssocID="{BA74BC65-DE07-402E-AF27-D40EA51E9A40}" presName="desTx" presStyleLbl="alignAccFollowNode1" presStyleIdx="0" presStyleCnt="3">
        <dgm:presLayoutVars>
          <dgm:bulletEnabled val="1"/>
        </dgm:presLayoutVars>
      </dgm:prSet>
      <dgm:spPr/>
    </dgm:pt>
    <dgm:pt modelId="{91012352-261A-480A-9CBA-966D0C4D9FFB}" type="pres">
      <dgm:prSet presAssocID="{C8031F1E-EFBE-4355-8524-90438A156B4D}" presName="space" presStyleCnt="0"/>
      <dgm:spPr/>
    </dgm:pt>
    <dgm:pt modelId="{C802C65F-9EFC-4687-8534-4CCDCEFA1DFA}" type="pres">
      <dgm:prSet presAssocID="{860680B5-F757-4D93-B55C-2F6FBEEF530C}" presName="composite" presStyleCnt="0"/>
      <dgm:spPr/>
    </dgm:pt>
    <dgm:pt modelId="{FCE68357-FDED-4CAA-B8F9-EC7FFE47C833}" type="pres">
      <dgm:prSet presAssocID="{860680B5-F757-4D93-B55C-2F6FBEEF530C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FB9EB2DB-B999-4939-B8B8-6BE92C19B1E9}" type="pres">
      <dgm:prSet presAssocID="{860680B5-F757-4D93-B55C-2F6FBEEF530C}" presName="desTx" presStyleLbl="alignAccFollowNode1" presStyleIdx="1" presStyleCnt="3">
        <dgm:presLayoutVars>
          <dgm:bulletEnabled val="1"/>
        </dgm:presLayoutVars>
      </dgm:prSet>
      <dgm:spPr/>
    </dgm:pt>
    <dgm:pt modelId="{D9947F82-D6AD-4300-9C65-B6226B9C8043}" type="pres">
      <dgm:prSet presAssocID="{DA406626-8D29-497A-9C4A-A35D213E7F9F}" presName="space" presStyleCnt="0"/>
      <dgm:spPr/>
    </dgm:pt>
    <dgm:pt modelId="{5A2F2437-BED3-4022-AEFD-95C5A16013D9}" type="pres">
      <dgm:prSet presAssocID="{4E046D11-8E3F-447A-A710-AA59F51CF896}" presName="composite" presStyleCnt="0"/>
      <dgm:spPr/>
    </dgm:pt>
    <dgm:pt modelId="{6E6A0166-DF4D-4D42-B42A-6265F206ED60}" type="pres">
      <dgm:prSet presAssocID="{4E046D11-8E3F-447A-A710-AA59F51CF896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E0936529-DA56-4054-B563-9ACE33F0A05C}" type="pres">
      <dgm:prSet presAssocID="{4E046D11-8E3F-447A-A710-AA59F51CF896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A4450204-AB53-4310-B2E7-819AC22119F0}" srcId="{06F3DDF8-4DE3-4049-A567-DEB51C5AA473}" destId="{BA74BC65-DE07-402E-AF27-D40EA51E9A40}" srcOrd="0" destOrd="0" parTransId="{67E35C7E-D485-4F24-B1B2-1918637D495B}" sibTransId="{C8031F1E-EFBE-4355-8524-90438A156B4D}"/>
    <dgm:cxn modelId="{DEBC6706-4335-47E5-B0A7-B2EC537BA2AD}" srcId="{06F3DDF8-4DE3-4049-A567-DEB51C5AA473}" destId="{860680B5-F757-4D93-B55C-2F6FBEEF530C}" srcOrd="1" destOrd="0" parTransId="{9E9483EC-4F03-40DA-AB90-9424F7B55EB6}" sibTransId="{DA406626-8D29-497A-9C4A-A35D213E7F9F}"/>
    <dgm:cxn modelId="{B540CE06-697C-474F-818E-97E65FAF3810}" type="presOf" srcId="{CF318AD9-3AEE-435A-914D-01743B057B28}" destId="{FB9EB2DB-B999-4939-B8B8-6BE92C19B1E9}" srcOrd="0" destOrd="3" presId="urn:microsoft.com/office/officeart/2005/8/layout/hList1"/>
    <dgm:cxn modelId="{2672700D-3517-437F-8528-E7525163DE70}" srcId="{9A11CD44-5136-4A49-BBFC-ABC810EFB5D8}" destId="{24AC429B-295E-4D16-853E-7D3FDA843B60}" srcOrd="0" destOrd="0" parTransId="{52DA62FA-8E35-402D-A94D-5F5E789BE55B}" sibTransId="{50C91858-09FE-4B31-A587-43EAFC58D2B5}"/>
    <dgm:cxn modelId="{5A08940F-73F5-493C-B19D-8DC658C6B760}" type="presOf" srcId="{1BAA861E-947F-4B12-91D7-F1811B514040}" destId="{FB9EB2DB-B999-4939-B8B8-6BE92C19B1E9}" srcOrd="0" destOrd="0" presId="urn:microsoft.com/office/officeart/2005/8/layout/hList1"/>
    <dgm:cxn modelId="{7914F129-523A-401C-ABF5-383358340CE8}" srcId="{BA74BC65-DE07-402E-AF27-D40EA51E9A40}" destId="{F167F6B3-A4E4-408A-8E5C-52D45CF485AE}" srcOrd="0" destOrd="0" parTransId="{27298C85-B85C-4EA2-9383-8E1888085964}" sibTransId="{7492CC38-C477-4ABC-9404-D289F702E6DF}"/>
    <dgm:cxn modelId="{E4CDE82F-B1D7-4FE3-8C8D-59F6D28052A5}" srcId="{BA74BC65-DE07-402E-AF27-D40EA51E9A40}" destId="{5DA5C996-9FC3-4A01-8B32-C49FB1F1FF5C}" srcOrd="1" destOrd="0" parTransId="{D4DA4254-6C54-48B1-A75D-FE9F64CCA082}" sibTransId="{61737AF7-420D-4715-BAEE-C9866627D4BA}"/>
    <dgm:cxn modelId="{025FBA34-37C8-4B31-A9DC-7D3F37D39713}" type="presOf" srcId="{CAC9EE59-C95E-4943-AB56-5FDB73E27D27}" destId="{FB9EB2DB-B999-4939-B8B8-6BE92C19B1E9}" srcOrd="0" destOrd="1" presId="urn:microsoft.com/office/officeart/2005/8/layout/hList1"/>
    <dgm:cxn modelId="{30AF9B39-3549-4763-BCD6-7037B6E26FFA}" type="presOf" srcId="{F167F6B3-A4E4-408A-8E5C-52D45CF485AE}" destId="{8D80F788-9035-4BA9-9A00-EB43E8D910A2}" srcOrd="0" destOrd="0" presId="urn:microsoft.com/office/officeart/2005/8/layout/hList1"/>
    <dgm:cxn modelId="{E1CC3D5E-E6BA-4F6D-9011-D4DB20264E13}" type="presOf" srcId="{1E6E44F1-30CE-42EF-B220-84CF3A5668B6}" destId="{8D80F788-9035-4BA9-9A00-EB43E8D910A2}" srcOrd="0" destOrd="2" presId="urn:microsoft.com/office/officeart/2005/8/layout/hList1"/>
    <dgm:cxn modelId="{B440FC49-56BC-4EE6-AA84-10C0C0816928}" type="presOf" srcId="{8E501611-C101-483E-A34A-B847BF6F9263}" destId="{FB9EB2DB-B999-4939-B8B8-6BE92C19B1E9}" srcOrd="0" destOrd="2" presId="urn:microsoft.com/office/officeart/2005/8/layout/hList1"/>
    <dgm:cxn modelId="{80C7C64C-F890-446C-9769-5DE2163455A5}" type="presOf" srcId="{0030754E-A68A-4895-B81D-50ACB1E0B00C}" destId="{E0936529-DA56-4054-B563-9ACE33F0A05C}" srcOrd="0" destOrd="3" presId="urn:microsoft.com/office/officeart/2005/8/layout/hList1"/>
    <dgm:cxn modelId="{CC5FED6C-8BB1-4016-8404-947898A3FCDE}" srcId="{860680B5-F757-4D93-B55C-2F6FBEEF530C}" destId="{CAC9EE59-C95E-4943-AB56-5FDB73E27D27}" srcOrd="1" destOrd="0" parTransId="{5F072D82-B77B-410D-81ED-F2D8691C75CD}" sibTransId="{1F40B577-C051-4910-867C-34622E82D6E0}"/>
    <dgm:cxn modelId="{7016834E-63A0-47C8-AFF1-D6A1CDFDA3CC}" type="presOf" srcId="{09F9F84D-79F3-4458-B208-8732AF39F50E}" destId="{E0936529-DA56-4054-B563-9ACE33F0A05C}" srcOrd="0" destOrd="0" presId="urn:microsoft.com/office/officeart/2005/8/layout/hList1"/>
    <dgm:cxn modelId="{6ABBA850-8599-4AB0-901A-DB41F636BBEE}" srcId="{9A11CD44-5136-4A49-BBFC-ABC810EFB5D8}" destId="{0030754E-A68A-4895-B81D-50ACB1E0B00C}" srcOrd="1" destOrd="0" parTransId="{C8C84A37-C1F2-4EB4-8C3F-4A60C910AF89}" sibTransId="{3190EA7F-F489-481F-9DD6-339DCBB8819D}"/>
    <dgm:cxn modelId="{7C826853-3043-4907-98D1-69887449F694}" type="presOf" srcId="{5DA5C996-9FC3-4A01-8B32-C49FB1F1FF5C}" destId="{8D80F788-9035-4BA9-9A00-EB43E8D910A2}" srcOrd="0" destOrd="1" presId="urn:microsoft.com/office/officeart/2005/8/layout/hList1"/>
    <dgm:cxn modelId="{D711EA5A-E3EA-42D5-B1CB-1D840325D61B}" srcId="{9A11CD44-5136-4A49-BBFC-ABC810EFB5D8}" destId="{54918556-9476-4201-8E62-DA4E0123903C}" srcOrd="2" destOrd="0" parTransId="{19B377D4-7FC7-4127-99F4-46DE9B042D0B}" sibTransId="{0585F3A1-D6D0-4C28-839B-79078A9E0664}"/>
    <dgm:cxn modelId="{0066C37C-58DF-4763-8F20-064C4CACA0CC}" srcId="{CAC9EE59-C95E-4943-AB56-5FDB73E27D27}" destId="{8E501611-C101-483E-A34A-B847BF6F9263}" srcOrd="0" destOrd="0" parTransId="{18120CC9-C2A1-4716-AE97-B322D2A63374}" sibTransId="{95E0DFE9-F73D-4F1D-95D9-45A52A9FB695}"/>
    <dgm:cxn modelId="{9D97207D-3569-49D7-8100-2EEE03EE0F94}" srcId="{4E046D11-8E3F-447A-A710-AA59F51CF896}" destId="{9A11CD44-5136-4A49-BBFC-ABC810EFB5D8}" srcOrd="1" destOrd="0" parTransId="{26A75F7A-72BC-4250-9831-4FEF35EC03C8}" sibTransId="{E22DF1C9-FC31-420E-80BA-D41C8BE14328}"/>
    <dgm:cxn modelId="{0458E080-5CC8-4A9C-9371-D7243D9BEE4C}" type="presOf" srcId="{24AC429B-295E-4D16-853E-7D3FDA843B60}" destId="{E0936529-DA56-4054-B563-9ACE33F0A05C}" srcOrd="0" destOrd="2" presId="urn:microsoft.com/office/officeart/2005/8/layout/hList1"/>
    <dgm:cxn modelId="{B24ACD84-CB2B-4758-BEB8-669296FB4620}" srcId="{06F3DDF8-4DE3-4049-A567-DEB51C5AA473}" destId="{4E046D11-8E3F-447A-A710-AA59F51CF896}" srcOrd="2" destOrd="0" parTransId="{862F8BDC-C205-42DC-9F92-79164B484B0A}" sibTransId="{FFCDB1F5-D0EE-4D2F-AE85-B10C32C9A523}"/>
    <dgm:cxn modelId="{3E9F678A-5D15-4DC3-B047-E65BA60EB806}" srcId="{4E046D11-8E3F-447A-A710-AA59F51CF896}" destId="{09F9F84D-79F3-4458-B208-8732AF39F50E}" srcOrd="0" destOrd="0" parTransId="{DD7FE4E1-C71A-4365-829F-83708D8D342B}" sibTransId="{FEABD1D0-2F03-484D-94D8-AB8AC1A610A1}"/>
    <dgm:cxn modelId="{995DA190-AB91-49E9-AFFB-2CA0C9BD9619}" type="presOf" srcId="{860680B5-F757-4D93-B55C-2F6FBEEF530C}" destId="{FCE68357-FDED-4CAA-B8F9-EC7FFE47C833}" srcOrd="0" destOrd="0" presId="urn:microsoft.com/office/officeart/2005/8/layout/hList1"/>
    <dgm:cxn modelId="{4FB79C94-22AB-45F8-B456-B6C68E848ECC}" srcId="{BA74BC65-DE07-402E-AF27-D40EA51E9A40}" destId="{1E6E44F1-30CE-42EF-B220-84CF3A5668B6}" srcOrd="2" destOrd="0" parTransId="{BD2C7D42-5252-4DC8-8598-BF0B2A0EDDE0}" sibTransId="{74E98F88-1CF3-4A24-8A70-7773A917154B}"/>
    <dgm:cxn modelId="{1131C595-9453-4903-8131-E8F6BC56572C}" type="presOf" srcId="{BA74BC65-DE07-402E-AF27-D40EA51E9A40}" destId="{5FC084B4-2E01-4E64-A363-38EC42E84F3D}" srcOrd="0" destOrd="0" presId="urn:microsoft.com/office/officeart/2005/8/layout/hList1"/>
    <dgm:cxn modelId="{869DE79D-9182-4FB2-B4B3-BCC080CE2F98}" type="presOf" srcId="{4E046D11-8E3F-447A-A710-AA59F51CF896}" destId="{6E6A0166-DF4D-4D42-B42A-6265F206ED60}" srcOrd="0" destOrd="0" presId="urn:microsoft.com/office/officeart/2005/8/layout/hList1"/>
    <dgm:cxn modelId="{3AE435C3-CBD0-4410-9058-6FFF0A8706CC}" srcId="{860680B5-F757-4D93-B55C-2F6FBEEF530C}" destId="{1BAA861E-947F-4B12-91D7-F1811B514040}" srcOrd="0" destOrd="0" parTransId="{3421EE21-9B39-4921-A016-A5BCB17346A1}" sibTransId="{94AAE658-5F22-4743-85C2-23045AC4FF11}"/>
    <dgm:cxn modelId="{00DB98D6-83C4-418F-8DA9-60BC5C749F51}" type="presOf" srcId="{06F3DDF8-4DE3-4049-A567-DEB51C5AA473}" destId="{0C9490E8-0CBE-4A6A-B468-AC7A80FB9A23}" srcOrd="0" destOrd="0" presId="urn:microsoft.com/office/officeart/2005/8/layout/hList1"/>
    <dgm:cxn modelId="{AE6A89E0-7A3B-43FD-A908-09EB08982050}" srcId="{CAC9EE59-C95E-4943-AB56-5FDB73E27D27}" destId="{CF318AD9-3AEE-435A-914D-01743B057B28}" srcOrd="1" destOrd="0" parTransId="{75B8E455-3F42-4212-AED9-E0A7DC8D0C73}" sibTransId="{EA5C68C4-51B4-470A-9E85-A78D47928CB4}"/>
    <dgm:cxn modelId="{154F74E6-5ADE-4FBE-BDF4-243311C5E662}" type="presOf" srcId="{9A11CD44-5136-4A49-BBFC-ABC810EFB5D8}" destId="{E0936529-DA56-4054-B563-9ACE33F0A05C}" srcOrd="0" destOrd="1" presId="urn:microsoft.com/office/officeart/2005/8/layout/hList1"/>
    <dgm:cxn modelId="{3AE55CEB-2C56-4678-A7FC-F8FF15CD1412}" type="presOf" srcId="{54918556-9476-4201-8E62-DA4E0123903C}" destId="{E0936529-DA56-4054-B563-9ACE33F0A05C}" srcOrd="0" destOrd="4" presId="urn:microsoft.com/office/officeart/2005/8/layout/hList1"/>
    <dgm:cxn modelId="{92294CA8-765A-41BE-9851-BE297DDF2962}" type="presParOf" srcId="{0C9490E8-0CBE-4A6A-B468-AC7A80FB9A23}" destId="{A5BDADA4-747F-410A-BAD7-BDEB2F9273A9}" srcOrd="0" destOrd="0" presId="urn:microsoft.com/office/officeart/2005/8/layout/hList1"/>
    <dgm:cxn modelId="{A6A914A6-A5EE-4ED5-8357-DC8D2B36C834}" type="presParOf" srcId="{A5BDADA4-747F-410A-BAD7-BDEB2F9273A9}" destId="{5FC084B4-2E01-4E64-A363-38EC42E84F3D}" srcOrd="0" destOrd="0" presId="urn:microsoft.com/office/officeart/2005/8/layout/hList1"/>
    <dgm:cxn modelId="{FFB53E02-EE93-4E15-9C7E-9AF198DA4A9C}" type="presParOf" srcId="{A5BDADA4-747F-410A-BAD7-BDEB2F9273A9}" destId="{8D80F788-9035-4BA9-9A00-EB43E8D910A2}" srcOrd="1" destOrd="0" presId="urn:microsoft.com/office/officeart/2005/8/layout/hList1"/>
    <dgm:cxn modelId="{2BF0C849-DF90-4BBD-BB78-7FB7DFBFF872}" type="presParOf" srcId="{0C9490E8-0CBE-4A6A-B468-AC7A80FB9A23}" destId="{91012352-261A-480A-9CBA-966D0C4D9FFB}" srcOrd="1" destOrd="0" presId="urn:microsoft.com/office/officeart/2005/8/layout/hList1"/>
    <dgm:cxn modelId="{492B1ABC-FE7E-4500-A2C4-C48A3F641A88}" type="presParOf" srcId="{0C9490E8-0CBE-4A6A-B468-AC7A80FB9A23}" destId="{C802C65F-9EFC-4687-8534-4CCDCEFA1DFA}" srcOrd="2" destOrd="0" presId="urn:microsoft.com/office/officeart/2005/8/layout/hList1"/>
    <dgm:cxn modelId="{B470C55C-53EF-40E6-A8F3-266C1B7ED112}" type="presParOf" srcId="{C802C65F-9EFC-4687-8534-4CCDCEFA1DFA}" destId="{FCE68357-FDED-4CAA-B8F9-EC7FFE47C833}" srcOrd="0" destOrd="0" presId="urn:microsoft.com/office/officeart/2005/8/layout/hList1"/>
    <dgm:cxn modelId="{0601D769-6A45-4A7B-B2E8-95D542E705CA}" type="presParOf" srcId="{C802C65F-9EFC-4687-8534-4CCDCEFA1DFA}" destId="{FB9EB2DB-B999-4939-B8B8-6BE92C19B1E9}" srcOrd="1" destOrd="0" presId="urn:microsoft.com/office/officeart/2005/8/layout/hList1"/>
    <dgm:cxn modelId="{DA231AEB-6E9F-4D91-8958-98B7D3D3AE52}" type="presParOf" srcId="{0C9490E8-0CBE-4A6A-B468-AC7A80FB9A23}" destId="{D9947F82-D6AD-4300-9C65-B6226B9C8043}" srcOrd="3" destOrd="0" presId="urn:microsoft.com/office/officeart/2005/8/layout/hList1"/>
    <dgm:cxn modelId="{BF157A04-3EC8-4D03-9C42-424C109DC8AB}" type="presParOf" srcId="{0C9490E8-0CBE-4A6A-B468-AC7A80FB9A23}" destId="{5A2F2437-BED3-4022-AEFD-95C5A16013D9}" srcOrd="4" destOrd="0" presId="urn:microsoft.com/office/officeart/2005/8/layout/hList1"/>
    <dgm:cxn modelId="{246F8E81-CF80-45EE-8AFF-CDAE436C2FF8}" type="presParOf" srcId="{5A2F2437-BED3-4022-AEFD-95C5A16013D9}" destId="{6E6A0166-DF4D-4D42-B42A-6265F206ED60}" srcOrd="0" destOrd="0" presId="urn:microsoft.com/office/officeart/2005/8/layout/hList1"/>
    <dgm:cxn modelId="{6B340BD3-C2B9-4A8F-8CAF-8B5A5952976D}" type="presParOf" srcId="{5A2F2437-BED3-4022-AEFD-95C5A16013D9}" destId="{E0936529-DA56-4054-B563-9ACE33F0A05C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458D573-3B89-4A2F-95CD-F83D3D048084}">
      <dsp:nvSpPr>
        <dsp:cNvPr id="0" name=""/>
        <dsp:cNvSpPr/>
      </dsp:nvSpPr>
      <dsp:spPr>
        <a:xfrm>
          <a:off x="0" y="207202"/>
          <a:ext cx="7223620" cy="831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60633" tIns="229108" rIns="560633" bIns="78232" numCol="1" spcCol="1270" anchor="t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/>
            <a:t>Identified clear distribution differences in all characteristic ranking values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/>
            <a:t>Allows for unique matching approaches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/>
            <a:t>Acknowledges preferences are not one-size fits all</a:t>
          </a:r>
        </a:p>
      </dsp:txBody>
      <dsp:txXfrm>
        <a:off x="0" y="207202"/>
        <a:ext cx="7223620" cy="831600"/>
      </dsp:txXfrm>
    </dsp:sp>
    <dsp:sp modelId="{9F86BE7C-56E3-45E0-BE48-DF2C58146153}">
      <dsp:nvSpPr>
        <dsp:cNvPr id="0" name=""/>
        <dsp:cNvSpPr/>
      </dsp:nvSpPr>
      <dsp:spPr>
        <a:xfrm>
          <a:off x="361181" y="44842"/>
          <a:ext cx="5056534" cy="3247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1125" tIns="0" rIns="191125" bIns="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/>
            <a:t>Purpose of splitting data by participant gender:</a:t>
          </a:r>
          <a:endParaRPr lang="en-US" sz="1100" kern="1200"/>
        </a:p>
      </dsp:txBody>
      <dsp:txXfrm>
        <a:off x="377033" y="60694"/>
        <a:ext cx="5024830" cy="293016"/>
      </dsp:txXfrm>
    </dsp:sp>
    <dsp:sp modelId="{A62E7B8F-15A6-4A1D-BEC1-C2427F7CC93F}">
      <dsp:nvSpPr>
        <dsp:cNvPr id="0" name=""/>
        <dsp:cNvSpPr/>
      </dsp:nvSpPr>
      <dsp:spPr>
        <a:xfrm>
          <a:off x="0" y="1260562"/>
          <a:ext cx="7223620" cy="46777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60633" tIns="229108" rIns="560633" bIns="78232" numCol="1" spcCol="1270" anchor="t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b="1" kern="1200"/>
            <a:t>Fun, Attractiveness </a:t>
          </a:r>
          <a:r>
            <a:rPr lang="en-US" sz="1100" kern="1200"/>
            <a:t>(twice!), </a:t>
          </a:r>
          <a:r>
            <a:rPr lang="en-US" sz="1100" b="1" kern="1200"/>
            <a:t>Sincerity, Shared Interests</a:t>
          </a:r>
          <a:endParaRPr lang="en-US" sz="1100" kern="1200"/>
        </a:p>
      </dsp:txBody>
      <dsp:txXfrm>
        <a:off x="0" y="1260562"/>
        <a:ext cx="7223620" cy="467775"/>
      </dsp:txXfrm>
    </dsp:sp>
    <dsp:sp modelId="{CC6036C7-01BE-49FD-8416-E8CF4A9305C4}">
      <dsp:nvSpPr>
        <dsp:cNvPr id="0" name=""/>
        <dsp:cNvSpPr/>
      </dsp:nvSpPr>
      <dsp:spPr>
        <a:xfrm>
          <a:off x="361181" y="1098202"/>
          <a:ext cx="5056534" cy="3247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1125" tIns="0" rIns="191125" bIns="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/>
            <a:t>Male preferences:</a:t>
          </a:r>
          <a:endParaRPr lang="en-US" sz="1100" kern="1200"/>
        </a:p>
      </dsp:txBody>
      <dsp:txXfrm>
        <a:off x="377033" y="1114054"/>
        <a:ext cx="5024830" cy="293016"/>
      </dsp:txXfrm>
    </dsp:sp>
    <dsp:sp modelId="{4A1DCA56-60A5-429A-9068-10C763DC714D}">
      <dsp:nvSpPr>
        <dsp:cNvPr id="0" name=""/>
        <dsp:cNvSpPr/>
      </dsp:nvSpPr>
      <dsp:spPr>
        <a:xfrm>
          <a:off x="0" y="1950097"/>
          <a:ext cx="7223620" cy="46777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60633" tIns="229108" rIns="560633" bIns="78232" numCol="1" spcCol="1270" anchor="t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b="1" kern="1200"/>
            <a:t>Attractiveness, Fun, Sincerity</a:t>
          </a:r>
          <a:r>
            <a:rPr lang="en-US" sz="1100" kern="1200"/>
            <a:t>, Intelligence (twice!), </a:t>
          </a:r>
          <a:r>
            <a:rPr lang="en-US" sz="1100" b="1" kern="1200"/>
            <a:t>Shared Interests</a:t>
          </a:r>
          <a:endParaRPr lang="en-US" sz="1100" kern="1200"/>
        </a:p>
      </dsp:txBody>
      <dsp:txXfrm>
        <a:off x="0" y="1950097"/>
        <a:ext cx="7223620" cy="467775"/>
      </dsp:txXfrm>
    </dsp:sp>
    <dsp:sp modelId="{06A72D10-F9DE-4073-BA4E-BC380D64ACF0}">
      <dsp:nvSpPr>
        <dsp:cNvPr id="0" name=""/>
        <dsp:cNvSpPr/>
      </dsp:nvSpPr>
      <dsp:spPr>
        <a:xfrm>
          <a:off x="361181" y="1787737"/>
          <a:ext cx="5056534" cy="3247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1125" tIns="0" rIns="191125" bIns="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/>
            <a:t>Female Preferences:</a:t>
          </a:r>
          <a:endParaRPr lang="en-US" sz="1100" kern="1200"/>
        </a:p>
      </dsp:txBody>
      <dsp:txXfrm>
        <a:off x="377033" y="1803589"/>
        <a:ext cx="5024830" cy="293016"/>
      </dsp:txXfrm>
    </dsp:sp>
    <dsp:sp modelId="{46A6236B-5728-47A3-8E5D-8A6EA045764C}">
      <dsp:nvSpPr>
        <dsp:cNvPr id="0" name=""/>
        <dsp:cNvSpPr/>
      </dsp:nvSpPr>
      <dsp:spPr>
        <a:xfrm>
          <a:off x="0" y="2639632"/>
          <a:ext cx="7223620" cy="98752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60633" tIns="229108" rIns="560633" bIns="78232" numCol="1" spcCol="1270" anchor="t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/>
            <a:t>Both genders value: fun, attractiveness, sincerity, &amp; shared interests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/>
            <a:t>Men value </a:t>
          </a:r>
          <a:r>
            <a:rPr lang="en-US" sz="1100" u="sng" kern="1200"/>
            <a:t>attractiveness</a:t>
          </a:r>
          <a:r>
            <a:rPr lang="en-US" sz="1100" kern="1200"/>
            <a:t> more than women (present in 2 pairwise interactions)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 dirty="0"/>
            <a:t>Women value </a:t>
          </a:r>
          <a:r>
            <a:rPr lang="en-US" sz="1100" u="sng" kern="1200" dirty="0"/>
            <a:t>intelligence</a:t>
          </a:r>
          <a:r>
            <a:rPr lang="en-US" sz="1100" kern="1200" dirty="0"/>
            <a:t> more than men (present in 2 pairwise interactions &amp; missing from male model)</a:t>
          </a:r>
        </a:p>
      </dsp:txBody>
      <dsp:txXfrm>
        <a:off x="0" y="2639632"/>
        <a:ext cx="7223620" cy="987525"/>
      </dsp:txXfrm>
    </dsp:sp>
    <dsp:sp modelId="{FCFF40D4-DE17-4786-BE7A-D1810E409163}">
      <dsp:nvSpPr>
        <dsp:cNvPr id="0" name=""/>
        <dsp:cNvSpPr/>
      </dsp:nvSpPr>
      <dsp:spPr>
        <a:xfrm>
          <a:off x="361181" y="2477272"/>
          <a:ext cx="5056534" cy="3247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1125" tIns="0" rIns="191125" bIns="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/>
            <a:t>Takeaway:</a:t>
          </a:r>
          <a:endParaRPr lang="en-US" sz="1100" kern="1200"/>
        </a:p>
      </dsp:txBody>
      <dsp:txXfrm>
        <a:off x="377033" y="2493124"/>
        <a:ext cx="5024830" cy="29301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FC084B4-2E01-4E64-A363-38EC42E84F3D}">
      <dsp:nvSpPr>
        <dsp:cNvPr id="0" name=""/>
        <dsp:cNvSpPr/>
      </dsp:nvSpPr>
      <dsp:spPr>
        <a:xfrm>
          <a:off x="3229" y="278313"/>
          <a:ext cx="3149051" cy="871673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97536" rIns="170688" bIns="97536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kern="1200" dirty="0"/>
            <a:t>Gender-Specific Preferences</a:t>
          </a:r>
        </a:p>
      </dsp:txBody>
      <dsp:txXfrm>
        <a:off x="3229" y="278313"/>
        <a:ext cx="3149051" cy="871673"/>
      </dsp:txXfrm>
    </dsp:sp>
    <dsp:sp modelId="{8D80F788-9035-4BA9-9A00-EB43E8D910A2}">
      <dsp:nvSpPr>
        <dsp:cNvPr id="0" name=""/>
        <dsp:cNvSpPr/>
      </dsp:nvSpPr>
      <dsp:spPr>
        <a:xfrm>
          <a:off x="3229" y="1149986"/>
          <a:ext cx="3149051" cy="3129300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106680" bIns="120015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Males value attractiveness at a greater rate than females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Females value intelligence while males do not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1500" kern="1200" dirty="0"/>
        </a:p>
      </dsp:txBody>
      <dsp:txXfrm>
        <a:off x="3229" y="1149986"/>
        <a:ext cx="3149051" cy="3129300"/>
      </dsp:txXfrm>
    </dsp:sp>
    <dsp:sp modelId="{FCE68357-FDED-4CAA-B8F9-EC7FFE47C833}">
      <dsp:nvSpPr>
        <dsp:cNvPr id="0" name=""/>
        <dsp:cNvSpPr/>
      </dsp:nvSpPr>
      <dsp:spPr>
        <a:xfrm>
          <a:off x="3593149" y="278313"/>
          <a:ext cx="3149051" cy="871673"/>
        </a:xfrm>
        <a:prstGeom prst="rect">
          <a:avLst/>
        </a:prstGeom>
        <a:solidFill>
          <a:schemeClr val="accent2">
            <a:hueOff val="-520665"/>
            <a:satOff val="-10816"/>
            <a:lumOff val="-2941"/>
            <a:alphaOff val="0"/>
          </a:schemeClr>
        </a:solidFill>
        <a:ln w="12700" cap="flat" cmpd="sng" algn="ctr">
          <a:solidFill>
            <a:schemeClr val="accent2">
              <a:hueOff val="-520665"/>
              <a:satOff val="-10816"/>
              <a:lumOff val="-294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97536" rIns="170688" bIns="97536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Data Integrity Recommendations</a:t>
          </a:r>
        </a:p>
      </dsp:txBody>
      <dsp:txXfrm>
        <a:off x="3593149" y="278313"/>
        <a:ext cx="3149051" cy="871673"/>
      </dsp:txXfrm>
    </dsp:sp>
    <dsp:sp modelId="{FB9EB2DB-B999-4939-B8B8-6BE92C19B1E9}">
      <dsp:nvSpPr>
        <dsp:cNvPr id="0" name=""/>
        <dsp:cNvSpPr/>
      </dsp:nvSpPr>
      <dsp:spPr>
        <a:xfrm>
          <a:off x="3593149" y="1149986"/>
          <a:ext cx="3149051" cy="3129300"/>
        </a:xfrm>
        <a:prstGeom prst="rect">
          <a:avLst/>
        </a:prstGeom>
        <a:solidFill>
          <a:schemeClr val="accent2">
            <a:tint val="40000"/>
            <a:alpha val="90000"/>
            <a:hueOff val="-418313"/>
            <a:satOff val="-15017"/>
            <a:lumOff val="-969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418313"/>
              <a:satOff val="-15017"/>
              <a:lumOff val="-96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106680" bIns="120015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500" kern="1200" dirty="0"/>
            <a:t>Blank values can skew prediction models resulting in inaccurate predictions &amp; incompatible dater pairings. </a:t>
          </a:r>
          <a:endParaRPr lang="en-US" sz="1500" u="sng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endParaRPr lang="en-US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500" u="sng" kern="1200" dirty="0"/>
            <a:t>Options to fix:</a:t>
          </a:r>
        </a:p>
        <a:p>
          <a:pPr marL="228600" lvl="2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500" kern="1200" dirty="0"/>
            <a:t>Remove options for participants to leave responses blank</a:t>
          </a:r>
        </a:p>
        <a:p>
          <a:pPr marL="228600" lvl="2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500" kern="1200" dirty="0"/>
            <a:t>Develop imputation procedures to predict observations for blank values</a:t>
          </a:r>
        </a:p>
        <a:p>
          <a:pPr marL="228600" lvl="2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endParaRPr lang="en-US" sz="1500" kern="1200" dirty="0"/>
        </a:p>
      </dsp:txBody>
      <dsp:txXfrm>
        <a:off x="3593149" y="1149986"/>
        <a:ext cx="3149051" cy="3129300"/>
      </dsp:txXfrm>
    </dsp:sp>
    <dsp:sp modelId="{6E6A0166-DF4D-4D42-B42A-6265F206ED60}">
      <dsp:nvSpPr>
        <dsp:cNvPr id="0" name=""/>
        <dsp:cNvSpPr/>
      </dsp:nvSpPr>
      <dsp:spPr>
        <a:xfrm>
          <a:off x="7183068" y="278313"/>
          <a:ext cx="3149051" cy="871673"/>
        </a:xfrm>
        <a:prstGeom prst="rect">
          <a:avLst/>
        </a:prstGeom>
        <a:solidFill>
          <a:schemeClr val="accent2">
            <a:hueOff val="-1041329"/>
            <a:satOff val="-21631"/>
            <a:lumOff val="-5882"/>
            <a:alphaOff val="0"/>
          </a:schemeClr>
        </a:solidFill>
        <a:ln w="12700" cap="flat" cmpd="sng" algn="ctr">
          <a:solidFill>
            <a:schemeClr val="accent2">
              <a:hueOff val="-1041329"/>
              <a:satOff val="-21631"/>
              <a:lumOff val="-588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97536" rIns="170688" bIns="97536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Enhancing User Experience</a:t>
          </a:r>
        </a:p>
      </dsp:txBody>
      <dsp:txXfrm>
        <a:off x="7183068" y="278313"/>
        <a:ext cx="3149051" cy="871673"/>
      </dsp:txXfrm>
    </dsp:sp>
    <dsp:sp modelId="{E0936529-DA56-4054-B563-9ACE33F0A05C}">
      <dsp:nvSpPr>
        <dsp:cNvPr id="0" name=""/>
        <dsp:cNvSpPr/>
      </dsp:nvSpPr>
      <dsp:spPr>
        <a:xfrm>
          <a:off x="7183068" y="1149986"/>
          <a:ext cx="3149051" cy="3129300"/>
        </a:xfrm>
        <a:prstGeom prst="rect">
          <a:avLst/>
        </a:prstGeom>
        <a:solidFill>
          <a:schemeClr val="accent2">
            <a:tint val="40000"/>
            <a:alpha val="90000"/>
            <a:hueOff val="-836627"/>
            <a:satOff val="-30034"/>
            <a:lumOff val="-1939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836627"/>
              <a:satOff val="-30034"/>
              <a:lumOff val="-193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106680" bIns="120015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500" kern="1200" dirty="0"/>
            <a:t>Enhance</a:t>
          </a:r>
          <a:r>
            <a:rPr lang="en-US" sz="1500" kern="1200" baseline="0" dirty="0"/>
            <a:t> user experience using the following approaches:</a:t>
          </a:r>
          <a:endParaRPr lang="en-US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endParaRPr lang="en-US" sz="1500" kern="1200" dirty="0"/>
        </a:p>
        <a:p>
          <a:pPr marL="228600" lvl="2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Aggregate characteristic rankings across multiple evaluations for pseudo peer-review</a:t>
          </a:r>
        </a:p>
        <a:p>
          <a:pPr marL="228600" lvl="2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Allow for minimum predicted like ranking cutoffs for matches</a:t>
          </a:r>
        </a:p>
        <a:p>
          <a:pPr marL="228600" lvl="2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Re-evaluate age groupings to determine if dater age impacts desired characteristics</a:t>
          </a:r>
        </a:p>
      </dsp:txBody>
      <dsp:txXfrm>
        <a:off x="7183068" y="1149986"/>
        <a:ext cx="3149051" cy="31293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71A5DD-1AA6-4FF3-968B-A3400A1BADEE}" type="datetimeFigureOut">
              <a:rPr lang="en-US" smtClean="0"/>
              <a:t>4/24/2025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C10506-6B0A-4841-9EF5-5275F31366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11527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B497F3-F9F4-49DD-84E8-E2B7FC33CCC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823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B497F3-F9F4-49DD-84E8-E2B7FC33CCC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1337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B497F3-F9F4-49DD-84E8-E2B7FC33CCC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89737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B497F3-F9F4-49DD-84E8-E2B7FC33CCC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4207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B497F3-F9F4-49DD-84E8-E2B7FC33CCC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08762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B497F3-F9F4-49DD-84E8-E2B7FC33CCC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9110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B497F3-F9F4-49DD-84E8-E2B7FC33CCC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103695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B497F3-F9F4-49DD-84E8-E2B7FC33CCC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993410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B497F3-F9F4-49DD-84E8-E2B7FC33CCC2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830542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B497F3-F9F4-49DD-84E8-E2B7FC33CCC2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07985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data was split into two groups for analysis: male and female, as it has been previously determined that each gender may prioritize different characteristics when selecting a potential partner.  The distribution of the personality characteristic variables are included below in Figure 1 with the scores recorded by male participants being represented in blue while the scores recorded by female participants are represented in 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B497F3-F9F4-49DD-84E8-E2B7FC33CCC2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411750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B497F3-F9F4-49DD-84E8-E2B7FC33CCC2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875793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B497F3-F9F4-49DD-84E8-E2B7FC33CCC2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96843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4/24/2025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797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4/24/2025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20273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4/24/2025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00711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4/24/2025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11824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4/24/2025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04365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4/24/2025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21349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4/24/2025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91769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4/24/2025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7199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4/24/2025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08734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4/24/2025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33617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4/24/2025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61543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4/24/2025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8837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10" Type="http://schemas.openxmlformats.org/officeDocument/2006/relationships/image" Target="../media/image10.png"/><Relationship Id="rId4" Type="http://schemas.openxmlformats.org/officeDocument/2006/relationships/diagramLayout" Target="../diagrams/layout1.xml"/><Relationship Id="rId9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3" name="Rectangle 42">
            <a:extLst>
              <a:ext uri="{FF2B5EF4-FFF2-40B4-BE49-F238E27FC236}">
                <a16:creationId xmlns:a16="http://schemas.microsoft.com/office/drawing/2014/main" id="{B797DE5A-DA89-0A80-C73D-8DCE1A3E2B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21957C5-143C-6BC6-D32F-99C6160199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045" y="1174376"/>
            <a:ext cx="3509383" cy="2781752"/>
          </a:xfrm>
        </p:spPr>
        <p:txBody>
          <a:bodyPr>
            <a:normAutofit/>
          </a:bodyPr>
          <a:lstStyle/>
          <a:p>
            <a:pPr algn="l"/>
            <a:r>
              <a:rPr lang="en-US"/>
              <a:t>Pizzaz.com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CD8EA0-D678-688B-047A-62B20C64AC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045" y="4062940"/>
            <a:ext cx="3509383" cy="1394913"/>
          </a:xfrm>
        </p:spPr>
        <p:txBody>
          <a:bodyPr>
            <a:normAutofit/>
          </a:bodyPr>
          <a:lstStyle/>
          <a:p>
            <a:pPr algn="l">
              <a:lnSpc>
                <a:spcPct val="110000"/>
              </a:lnSpc>
            </a:pPr>
            <a:r>
              <a:rPr lang="en-US" sz="1500"/>
              <a:t>Speed Dating Analytics &amp; Online Dating Optimization </a:t>
            </a:r>
          </a:p>
          <a:p>
            <a:pPr algn="l">
              <a:lnSpc>
                <a:spcPct val="110000"/>
              </a:lnSpc>
            </a:pPr>
            <a:endParaRPr lang="en-US" sz="1500"/>
          </a:p>
          <a:p>
            <a:pPr algn="l">
              <a:lnSpc>
                <a:spcPct val="110000"/>
              </a:lnSpc>
            </a:pPr>
            <a:r>
              <a:rPr lang="en-US" sz="1500"/>
              <a:t>Natalie LePera | 24 Apr 2025</a:t>
            </a:r>
          </a:p>
        </p:txBody>
      </p:sp>
      <p:pic>
        <p:nvPicPr>
          <p:cNvPr id="4" name="Picture 3" descr="A screen shot of a phone&#10;&#10;AI-generated content may be incorrect.">
            <a:extLst>
              <a:ext uri="{FF2B5EF4-FFF2-40B4-BE49-F238E27FC236}">
                <a16:creationId xmlns:a16="http://schemas.microsoft.com/office/drawing/2014/main" id="{AC319C3E-07F6-46DB-9DA5-E453397936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598" r="9828"/>
          <a:stretch/>
        </p:blipFill>
        <p:spPr>
          <a:xfrm>
            <a:off x="4824248" y="1"/>
            <a:ext cx="736775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71410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A3E8498D-DA8F-EF6C-5420-F153D4979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1B2982-1DEB-0264-2E55-08ACCD787D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7091" y="1814321"/>
            <a:ext cx="7772400" cy="4560920"/>
          </a:xfrm>
        </p:spPr>
        <p:txBody>
          <a:bodyPr anchor="b">
            <a:normAutofit/>
          </a:bodyPr>
          <a:lstStyle/>
          <a:p>
            <a:pPr algn="l"/>
            <a:r>
              <a:rPr lang="en-US" sz="7400" dirty="0"/>
              <a:t>Introduction</a:t>
            </a:r>
            <a:br>
              <a:rPr lang="en-US" sz="7400" dirty="0"/>
            </a:br>
            <a:endParaRPr lang="en-US" sz="7400" dirty="0"/>
          </a:p>
        </p:txBody>
      </p:sp>
    </p:spTree>
    <p:extLst>
      <p:ext uri="{BB962C8B-B14F-4D97-AF65-F5344CB8AC3E}">
        <p14:creationId xmlns:p14="http://schemas.microsoft.com/office/powerpoint/2010/main" val="169232137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E8D3B17-7638-DFD3-18E4-8A6D61174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A49FA1-D7FF-5397-4772-76B6B95128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8537" y="466704"/>
            <a:ext cx="5916168" cy="1527048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0" indent="0">
              <a:spcBef>
                <a:spcPts val="2500"/>
              </a:spcBef>
              <a:buNone/>
            </a:pPr>
            <a:r>
              <a:rPr lang="en-US" sz="3600" b="1" dirty="0"/>
              <a:t>What Makes Pizzaz.com Unique?</a:t>
            </a:r>
          </a:p>
        </p:txBody>
      </p:sp>
      <p:pic>
        <p:nvPicPr>
          <p:cNvPr id="5" name="Content Placeholder 4" descr="3d illustration">
            <a:extLst>
              <a:ext uri="{FF2B5EF4-FFF2-40B4-BE49-F238E27FC236}">
                <a16:creationId xmlns:a16="http://schemas.microsoft.com/office/drawing/2014/main" id="{DAE33CA4-0D7F-4475-B3A5-5E87F619A4DC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rcRect l="7093" r="21307"/>
          <a:stretch/>
        </p:blipFill>
        <p:spPr>
          <a:xfrm>
            <a:off x="20" y="10"/>
            <a:ext cx="4910308" cy="6857990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031079-D598-0926-DAE0-CA7B7A044B29}"/>
              </a:ext>
            </a:extLst>
          </p:cNvPr>
          <p:cNvSpPr>
            <a:spLocks noGrp="1"/>
          </p:cNvSpPr>
          <p:nvPr>
            <p:ph sz="half" idx="2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5568537" y="2099082"/>
            <a:ext cx="5916168" cy="4517718"/>
          </a:xfrm>
        </p:spPr>
        <p:txBody>
          <a:bodyPr>
            <a:normAutofit/>
          </a:bodyPr>
          <a:lstStyle/>
          <a:p>
            <a:pPr marL="0" indent="0">
              <a:spcBef>
                <a:spcPts val="2500"/>
              </a:spcBef>
              <a:buNone/>
            </a:pPr>
            <a:r>
              <a:rPr lang="en-US" sz="1400" b="1" dirty="0"/>
              <a:t>Real-World Data for Real-World Matches</a:t>
            </a:r>
          </a:p>
          <a:p>
            <a:pPr marL="0" lvl="1" indent="0">
              <a:buNone/>
            </a:pPr>
            <a:r>
              <a:rPr lang="en-US" sz="1400" dirty="0"/>
              <a:t>Real-world data from in person speed dating events is leveraged to enhance user experience and improve match compatibility.</a:t>
            </a:r>
          </a:p>
          <a:p>
            <a:pPr marL="0" indent="0">
              <a:spcBef>
                <a:spcPts val="2500"/>
              </a:spcBef>
              <a:buNone/>
            </a:pPr>
            <a:r>
              <a:rPr lang="en-US" sz="1400" b="1" dirty="0"/>
              <a:t>Predictive Matching Systems</a:t>
            </a:r>
          </a:p>
          <a:p>
            <a:pPr marL="0" lvl="1" indent="0">
              <a:buNone/>
            </a:pPr>
            <a:r>
              <a:rPr lang="en-US" sz="1400" dirty="0"/>
              <a:t>Predictive matching is utilized to offer users high-quality potential matches based on gender specific identified preferences.</a:t>
            </a:r>
            <a:endParaRPr lang="en-US" sz="1400" b="1" dirty="0"/>
          </a:p>
          <a:p>
            <a:pPr marL="0" indent="0">
              <a:spcBef>
                <a:spcPts val="2500"/>
              </a:spcBef>
              <a:buNone/>
            </a:pPr>
            <a:r>
              <a:rPr lang="en-US" sz="2200" b="1" dirty="0"/>
              <a:t>Overall Goals</a:t>
            </a:r>
          </a:p>
          <a:p>
            <a:pPr marL="285750" lvl="1" indent="-285750"/>
            <a:r>
              <a:rPr lang="en-US" sz="1400" dirty="0"/>
              <a:t>Gender-specific prediction model creation allowing for improved personalization in potential matches</a:t>
            </a:r>
          </a:p>
          <a:p>
            <a:pPr marL="285750" lvl="1" indent="-285750"/>
            <a:r>
              <a:rPr lang="en-US" sz="1400" dirty="0"/>
              <a:t>Real world data driven preference rankings add a pseudo peer-review of a dater’s perceived characteristics</a:t>
            </a:r>
          </a:p>
          <a:p>
            <a:pPr marL="285750" lvl="1" indent="-285750"/>
            <a:r>
              <a:rPr lang="en-US" sz="1400" dirty="0"/>
              <a:t>User customization options allow for tailored match results based on the user’s preferences</a:t>
            </a:r>
          </a:p>
        </p:txBody>
      </p:sp>
    </p:spTree>
    <p:extLst>
      <p:ext uri="{BB962C8B-B14F-4D97-AF65-F5344CB8AC3E}">
        <p14:creationId xmlns:p14="http://schemas.microsoft.com/office/powerpoint/2010/main" val="2532277636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961259D-605E-E200-FF9F-7C8C71D7C8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7845610-A311-74D7-E31E-1B6634B407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00075"/>
            <a:ext cx="6035040" cy="152993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Proposed User Customization Features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4C9838-9B52-D9BE-06B7-E2201BDA6D4B}"/>
              </a:ext>
            </a:extLst>
          </p:cNvPr>
          <p:cNvSpPr>
            <a:spLocks noGrp="1"/>
          </p:cNvSpPr>
          <p:nvPr>
            <p:ph sz="half" idx="2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612648" y="2212848"/>
            <a:ext cx="6035040" cy="4096512"/>
          </a:xfrm>
        </p:spPr>
        <p:txBody>
          <a:bodyPr>
            <a:normAutofit/>
          </a:bodyPr>
          <a:lstStyle/>
          <a:p>
            <a:pPr marL="0" indent="0">
              <a:spcBef>
                <a:spcPts val="2500"/>
              </a:spcBef>
              <a:buNone/>
            </a:pPr>
            <a:r>
              <a:rPr lang="en-US" sz="1400" b="1" dirty="0"/>
              <a:t>Dater Characteristics Rankings</a:t>
            </a:r>
          </a:p>
          <a:p>
            <a:pPr marL="0" lvl="1" indent="0">
              <a:buNone/>
            </a:pPr>
            <a:r>
              <a:rPr lang="en-US" sz="1400" dirty="0"/>
              <a:t>Users can first record their rankings through an initial review period.  Their rankings of sample profiles are recorded to contribute to the overall characteristic data for the user pool.</a:t>
            </a:r>
          </a:p>
          <a:p>
            <a:pPr marL="0" lvl="1" indent="0">
              <a:buNone/>
            </a:pPr>
            <a:endParaRPr lang="en-US" sz="1400" dirty="0"/>
          </a:p>
          <a:p>
            <a:pPr marL="0" lvl="1" indent="0">
              <a:buNone/>
            </a:pPr>
            <a:endParaRPr lang="en-US" sz="1400" dirty="0"/>
          </a:p>
          <a:p>
            <a:pPr marL="0" lvl="1" indent="0">
              <a:buNone/>
            </a:pPr>
            <a:endParaRPr lang="en-US" sz="1400" dirty="0"/>
          </a:p>
          <a:p>
            <a:pPr marL="0" lvl="1" indent="0">
              <a:buNone/>
            </a:pPr>
            <a:endParaRPr lang="en-US" sz="1400" dirty="0"/>
          </a:p>
          <a:p>
            <a:pPr marL="0" indent="0">
              <a:spcBef>
                <a:spcPts val="2500"/>
              </a:spcBef>
              <a:buNone/>
            </a:pPr>
            <a:r>
              <a:rPr lang="en-US" sz="1400" b="1" dirty="0"/>
              <a:t>Like Score Cutoff</a:t>
            </a:r>
          </a:p>
          <a:p>
            <a:pPr marL="0" lvl="1" indent="0">
              <a:buNone/>
            </a:pPr>
            <a:r>
              <a:rPr lang="en-US" sz="1400" dirty="0"/>
              <a:t>Users can select a like score cutoff to filter potential matches, enhancing their experience. </a:t>
            </a:r>
          </a:p>
        </p:txBody>
      </p:sp>
      <p:pic>
        <p:nvPicPr>
          <p:cNvPr id="5" name="Content Placeholder 4" descr="Smartphone with chart graphic">
            <a:extLst>
              <a:ext uri="{FF2B5EF4-FFF2-40B4-BE49-F238E27FC236}">
                <a16:creationId xmlns:a16="http://schemas.microsoft.com/office/drawing/2014/main" id="{75E6D32D-A32D-42BB-AFAE-9CAE1B683C0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526" r="20526"/>
          <a:stretch/>
        </p:blipFill>
        <p:spPr>
          <a:xfrm>
            <a:off x="7345680" y="10"/>
            <a:ext cx="4846320" cy="685799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AC1AA7C-3685-4B82-95B0-7AC8025D1975}"/>
              </a:ext>
            </a:extLst>
          </p:cNvPr>
          <p:cNvSpPr txBox="1"/>
          <p:nvPr/>
        </p:nvSpPr>
        <p:spPr>
          <a:xfrm>
            <a:off x="663450" y="3505200"/>
            <a:ext cx="6035040" cy="1188720"/>
          </a:xfrm>
          <a:prstGeom prst="rect">
            <a:avLst/>
          </a:prstGeom>
          <a:noFill/>
        </p:spPr>
        <p:txBody>
          <a:bodyPr wrap="square" numCol="2" rtlCol="0">
            <a:spAutoFit/>
          </a:bodyPr>
          <a:lstStyle/>
          <a:p>
            <a:pPr marL="285750" marR="0" lvl="1" indent="-285750" algn="l" defTabSz="914400" rtl="0" eaLnBrk="1" fontAlgn="auto" latinLnBrk="0" hangingPunct="1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Haas Grotesk Text Pro"/>
                <a:ea typeface="+mn-ea"/>
                <a:cs typeface="+mn-cs"/>
              </a:rPr>
              <a:t>Attractiveness</a:t>
            </a:r>
          </a:p>
          <a:p>
            <a:pPr marL="285750" marR="0" lvl="1" indent="-285750" algn="l" defTabSz="914400" rtl="0" eaLnBrk="1" fontAlgn="auto" latinLnBrk="0" hangingPunct="1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Haas Grotesk Text Pro"/>
                <a:ea typeface="+mn-ea"/>
                <a:cs typeface="+mn-cs"/>
              </a:rPr>
              <a:t>Fun Score</a:t>
            </a:r>
          </a:p>
          <a:p>
            <a:pPr marL="285750" marR="0" lvl="1" indent="-285750" algn="l" defTabSz="914400" rtl="0" eaLnBrk="1" fontAlgn="auto" latinLnBrk="0" hangingPunct="1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Haas Grotesk Text Pro"/>
                <a:ea typeface="+mn-ea"/>
                <a:cs typeface="+mn-cs"/>
              </a:rPr>
              <a:t>Sincerity</a:t>
            </a:r>
          </a:p>
          <a:p>
            <a:pPr marL="285750" marR="0" lvl="1" indent="-285750" algn="l" defTabSz="914400" rtl="0" eaLnBrk="1" fontAlgn="auto" latinLnBrk="0" hangingPunct="1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Haas Grotesk Text Pro"/>
                <a:ea typeface="+mn-ea"/>
                <a:cs typeface="+mn-cs"/>
              </a:rPr>
              <a:t>Shared Interests</a:t>
            </a:r>
          </a:p>
          <a:p>
            <a:pPr marL="285750" marR="0" lvl="1" indent="-285750" algn="l" defTabSz="914400" rtl="0" eaLnBrk="1" fontAlgn="auto" latinLnBrk="0" hangingPunct="1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Haas Grotesk Text Pro"/>
                <a:ea typeface="+mn-ea"/>
                <a:cs typeface="+mn-cs"/>
              </a:rPr>
              <a:t>Intelligence</a:t>
            </a:r>
          </a:p>
          <a:p>
            <a:pPr marL="285750" marR="0" lvl="1" indent="-285750" algn="l" defTabSz="914400" rtl="0" eaLnBrk="1" fontAlgn="auto" latinLnBrk="0" hangingPunct="1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Haas Grotesk Text Pro"/>
                <a:ea typeface="+mn-ea"/>
                <a:cs typeface="+mn-cs"/>
              </a:rPr>
              <a:t>Ambitiousness</a:t>
            </a:r>
          </a:p>
        </p:txBody>
      </p:sp>
    </p:spTree>
    <p:extLst>
      <p:ext uri="{BB962C8B-B14F-4D97-AF65-F5344CB8AC3E}">
        <p14:creationId xmlns:p14="http://schemas.microsoft.com/office/powerpoint/2010/main" val="4220984338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A3E8498D-DA8F-EF6C-5420-F153D4979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1418D0-3798-0677-962E-21DB5D948C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7091" y="1814321"/>
            <a:ext cx="7772400" cy="4560920"/>
          </a:xfrm>
        </p:spPr>
        <p:txBody>
          <a:bodyPr anchor="b">
            <a:normAutofit/>
          </a:bodyPr>
          <a:lstStyle/>
          <a:p>
            <a:pPr algn="l"/>
            <a:r>
              <a:rPr lang="en-US" sz="7400" dirty="0"/>
              <a:t>Speed Dating Data Overview</a:t>
            </a:r>
          </a:p>
        </p:txBody>
      </p:sp>
    </p:spTree>
    <p:extLst>
      <p:ext uri="{BB962C8B-B14F-4D97-AF65-F5344CB8AC3E}">
        <p14:creationId xmlns:p14="http://schemas.microsoft.com/office/powerpoint/2010/main" val="31620377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961259D-605E-E200-FF9F-7C8C71D7C8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D588302-F632-CFCE-D4C0-99527F40A9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9675"/>
            <a:ext cx="6035040" cy="152993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Data Collection and Characteristics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0F250B-F7FF-7ECE-9CE2-03B8FF8721D9}"/>
              </a:ext>
            </a:extLst>
          </p:cNvPr>
          <p:cNvSpPr>
            <a:spLocks noGrp="1"/>
          </p:cNvSpPr>
          <p:nvPr>
            <p:ph sz="half" idx="2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612648" y="1694447"/>
            <a:ext cx="6601752" cy="5153877"/>
          </a:xfrm>
        </p:spPr>
        <p:txBody>
          <a:bodyPr>
            <a:normAutofit/>
          </a:bodyPr>
          <a:lstStyle/>
          <a:p>
            <a:pPr marL="0" indent="0">
              <a:spcBef>
                <a:spcPts val="2500"/>
              </a:spcBef>
              <a:buNone/>
            </a:pPr>
            <a:r>
              <a:rPr lang="en-US" sz="1400" b="1" dirty="0"/>
              <a:t>Participant Demographics</a:t>
            </a:r>
          </a:p>
          <a:p>
            <a:pPr marL="285750" lvl="1" indent="-285750"/>
            <a:r>
              <a:rPr lang="en-US" sz="1400" dirty="0"/>
              <a:t>276 heterosexual couples, randomly matched for a short speed date</a:t>
            </a:r>
          </a:p>
          <a:p>
            <a:pPr marL="285750" lvl="1" indent="-285750"/>
            <a:r>
              <a:rPr lang="en-US" sz="1400" dirty="0"/>
              <a:t>General demographics collected: Age &amp; Race</a:t>
            </a:r>
          </a:p>
          <a:p>
            <a:pPr marL="0" indent="0">
              <a:spcBef>
                <a:spcPts val="2500"/>
              </a:spcBef>
              <a:buNone/>
            </a:pPr>
            <a:r>
              <a:rPr lang="en-US" sz="1400" b="1" dirty="0"/>
              <a:t>Characteristic Ratings</a:t>
            </a:r>
          </a:p>
          <a:p>
            <a:pPr marL="285750" lvl="1" indent="-285750"/>
            <a:r>
              <a:rPr lang="en-US" sz="1400" dirty="0"/>
              <a:t>Participants rated their matched partners on key characteristics</a:t>
            </a:r>
          </a:p>
          <a:p>
            <a:pPr marL="514350" lvl="2" indent="-285750"/>
            <a:r>
              <a:rPr lang="en-US" sz="1200" dirty="0"/>
              <a:t>Attractiveness, sincerity, intelligence, fun, ambitiousness, &amp; shared interests</a:t>
            </a:r>
          </a:p>
          <a:p>
            <a:pPr marL="285750" lvl="1" indent="-285750"/>
            <a:r>
              <a:rPr lang="en-US" sz="1400" dirty="0"/>
              <a:t>Rankings captured in a 1 – 10 scale (1 = lowest / 10 = highest)</a:t>
            </a:r>
          </a:p>
          <a:p>
            <a:pPr marL="0" indent="0">
              <a:spcBef>
                <a:spcPts val="2500"/>
              </a:spcBef>
              <a:buNone/>
            </a:pPr>
            <a:r>
              <a:rPr lang="en-US" sz="1400" b="1" dirty="0"/>
              <a:t>Second Date Rankings</a:t>
            </a:r>
          </a:p>
          <a:p>
            <a:pPr marL="285750" lvl="1" indent="-285750"/>
            <a:r>
              <a:rPr lang="en-US" sz="1400" dirty="0"/>
              <a:t>Participant interest in a second date (1 = Yes 2</a:t>
            </a:r>
            <a:r>
              <a:rPr lang="en-US" sz="1400" baseline="30000" dirty="0"/>
              <a:t>nd</a:t>
            </a:r>
            <a:r>
              <a:rPr lang="en-US" sz="1400" dirty="0"/>
              <a:t> date / 0 = No 2</a:t>
            </a:r>
            <a:r>
              <a:rPr lang="en-US" sz="1400" baseline="30000" dirty="0"/>
              <a:t>nd</a:t>
            </a:r>
            <a:r>
              <a:rPr lang="en-US" sz="1400" dirty="0"/>
              <a:t> date)</a:t>
            </a:r>
          </a:p>
          <a:p>
            <a:pPr marL="285750" lvl="1" indent="-285750"/>
            <a:r>
              <a:rPr lang="en-US" sz="1400" dirty="0"/>
              <a:t>Assumed partner's interest in a second date (1 – 10 scale; 1 = lowest likelihood / 10 = highest likelihood)</a:t>
            </a:r>
          </a:p>
          <a:p>
            <a:pPr marL="285750" lvl="1" indent="-285750"/>
            <a:r>
              <a:rPr lang="en-US" sz="1400" dirty="0"/>
              <a:t>Data export errors omitted these rankings from utilization</a:t>
            </a:r>
          </a:p>
          <a:p>
            <a:pPr marL="514350" lvl="2" indent="-285750"/>
            <a:r>
              <a:rPr lang="en-US" sz="1200" dirty="0"/>
              <a:t>Recommendations for future use included in further sections</a:t>
            </a:r>
          </a:p>
        </p:txBody>
      </p:sp>
      <p:pic>
        <p:nvPicPr>
          <p:cNvPr id="5" name="Content Placeholder 4" descr="Young couple in love getting engaged, young good-looking man proposing to his beautiful girlfriend with blond hair, man wearing a black suit and a white shirt, surprised woman wearing an elegant black dress, feeling happy and surprised, looking at each other and feeling so in love, sitting at a table with red roses in front of a white wall.">
            <a:extLst>
              <a:ext uri="{FF2B5EF4-FFF2-40B4-BE49-F238E27FC236}">
                <a16:creationId xmlns:a16="http://schemas.microsoft.com/office/drawing/2014/main" id="{E150EA77-BCF8-4164-9A94-795A0CD7D66B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rcRect l="29032" r="23797" b="-1"/>
          <a:stretch/>
        </p:blipFill>
        <p:spPr>
          <a:xfrm>
            <a:off x="7345680" y="10"/>
            <a:ext cx="484632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6399085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E8D3B17-7638-DFD3-18E4-8A6D61174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1FEF968A-AC76-AFAC-2E75-11B1B5D77031}"/>
              </a:ext>
            </a:extLst>
          </p:cNvPr>
          <p:cNvSpPr/>
          <p:nvPr/>
        </p:nvSpPr>
        <p:spPr>
          <a:xfrm>
            <a:off x="687598" y="432000"/>
            <a:ext cx="3646802" cy="6148800"/>
          </a:xfrm>
          <a:prstGeom prst="roundRect">
            <a:avLst>
              <a:gd name="adj" fmla="val 6598"/>
            </a:avLst>
          </a:prstGeom>
          <a:solidFill>
            <a:schemeClr val="accent5"/>
          </a:solidFill>
          <a:ln>
            <a:solidFill>
              <a:schemeClr val="accent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151E99-29FA-D619-8A9D-BB3EFAFC12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8537" y="185904"/>
            <a:ext cx="5916168" cy="152704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Missing Values and Summary Statistics</a:t>
            </a:r>
          </a:p>
        </p:txBody>
      </p:sp>
      <p:pic>
        <p:nvPicPr>
          <p:cNvPr id="5" name="Content Placeholder 4" descr="A table of text with numbers&#10;&#10;AI-generated content may be incorrect">
            <a:extLst>
              <a:ext uri="{FF2B5EF4-FFF2-40B4-BE49-F238E27FC236}">
                <a16:creationId xmlns:a16="http://schemas.microsoft.com/office/drawing/2014/main" id="{3125B598-33E0-49FC-AF05-6FA08A8D5E6F}"/>
              </a:ext>
            </a:extLst>
          </p:cNvPr>
          <p:cNvPicPr>
            <a:picLocks noGrp="1" noChangeAspect="1"/>
          </p:cNvPicPr>
          <p:nvPr>
            <p:ph sz="half" idx="1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ConstrainedImage"/>
                    <p202:designTag name="ARCH:1:VSVAR" val="Large"/>
                  </p202:designTagLst>
                </p202:designPr>
              </p:ext>
            </p:extLst>
          </p:nvPr>
        </p:nvPicPr>
        <p:blipFill>
          <a:blip r:embed="rId3"/>
          <a:srcRect l="2752" t="17234" r="3004" b="550"/>
          <a:stretch/>
        </p:blipFill>
        <p:spPr>
          <a:xfrm>
            <a:off x="973693" y="691200"/>
            <a:ext cx="3074613" cy="4600800"/>
          </a:xfrm>
          <a:prstGeom prst="roundRect">
            <a:avLst>
              <a:gd name="adj" fmla="val 2148"/>
            </a:avLst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1D90C8-9EE6-ECFF-4FB1-00087895D94C}"/>
              </a:ext>
            </a:extLst>
          </p:cNvPr>
          <p:cNvSpPr>
            <a:spLocks noGrp="1"/>
          </p:cNvSpPr>
          <p:nvPr>
            <p:ph sz="half" idx="2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5568537" y="1839882"/>
            <a:ext cx="5916168" cy="4664262"/>
          </a:xfrm>
        </p:spPr>
        <p:txBody>
          <a:bodyPr>
            <a:normAutofit fontScale="92500" lnSpcReduction="10000"/>
          </a:bodyPr>
          <a:lstStyle/>
          <a:p>
            <a:pPr marL="0" indent="0">
              <a:spcBef>
                <a:spcPts val="2500"/>
              </a:spcBef>
              <a:buNone/>
            </a:pPr>
            <a:r>
              <a:rPr lang="en-US" sz="1400" b="1" dirty="0"/>
              <a:t>Identification of Missing Values</a:t>
            </a:r>
          </a:p>
          <a:p>
            <a:pPr marL="0" lvl="1" indent="0">
              <a:buNone/>
            </a:pPr>
            <a:r>
              <a:rPr lang="en-US" sz="1400" dirty="0"/>
              <a:t>Analysis revealed numerous missing values in the dataset, captured in Table 1</a:t>
            </a:r>
          </a:p>
          <a:p>
            <a:pPr marL="285750" lvl="1" indent="-285750"/>
            <a:r>
              <a:rPr lang="en-US" sz="1400" dirty="0"/>
              <a:t>Implications and recommendations discussed in later sections</a:t>
            </a:r>
          </a:p>
          <a:p>
            <a:pPr marL="0" lvl="1" indent="0">
              <a:buNone/>
            </a:pPr>
            <a:endParaRPr lang="en-US" sz="1400" b="1" dirty="0"/>
          </a:p>
          <a:p>
            <a:pPr marL="0" lvl="1" indent="0">
              <a:buNone/>
            </a:pPr>
            <a:r>
              <a:rPr lang="en-US" sz="1400" b="1" dirty="0"/>
              <a:t>Dater Demographic Similarities</a:t>
            </a:r>
          </a:p>
          <a:p>
            <a:pPr marL="285750" lvl="1" indent="-285750"/>
            <a:r>
              <a:rPr lang="en-US" sz="1400" dirty="0"/>
              <a:t>56.16% of pairs were identified to be of the same race</a:t>
            </a:r>
          </a:p>
          <a:p>
            <a:pPr marL="285750" lvl="1" indent="-285750"/>
            <a:r>
              <a:rPr lang="en-US" sz="1400" dirty="0"/>
              <a:t>43.84% of pairs were considered close in age.  </a:t>
            </a:r>
          </a:p>
          <a:p>
            <a:pPr marL="514350" lvl="2" indent="-285750"/>
            <a:r>
              <a:rPr lang="en-US" sz="1200" dirty="0"/>
              <a:t>(Close age: ages within 2 years of one another)</a:t>
            </a:r>
          </a:p>
          <a:p>
            <a:pPr marL="0" indent="0">
              <a:spcBef>
                <a:spcPts val="2500"/>
              </a:spcBef>
              <a:buNone/>
            </a:pPr>
            <a:r>
              <a:rPr lang="en-US" sz="1400" b="1" dirty="0"/>
              <a:t>Correlation Findings</a:t>
            </a:r>
          </a:p>
          <a:p>
            <a:pPr marL="0" lvl="1" indent="0">
              <a:buNone/>
            </a:pPr>
            <a:r>
              <a:rPr lang="en-US" sz="1400" dirty="0"/>
              <a:t>Correlation was calculated to determine potential impact of dater demographic similarities on reported ‘like’ scores. </a:t>
            </a:r>
          </a:p>
          <a:p>
            <a:pPr marL="285750" lvl="1" indent="-285750"/>
            <a:r>
              <a:rPr lang="en-US" sz="1400" dirty="0"/>
              <a:t>Less than 0.10 correlation between race match &amp; reported ‘like’ scores</a:t>
            </a:r>
          </a:p>
          <a:p>
            <a:pPr marL="285750" lvl="1" indent="-285750"/>
            <a:r>
              <a:rPr lang="en-US" sz="1400" dirty="0"/>
              <a:t>Less than 0.02 correlation between age gap &amp; reported ‘like’ scores</a:t>
            </a:r>
          </a:p>
          <a:p>
            <a:pPr marL="0" lvl="1" indent="0">
              <a:spcBef>
                <a:spcPts val="1200"/>
              </a:spcBef>
              <a:buNone/>
            </a:pPr>
            <a:r>
              <a:rPr lang="en-US" sz="1400" dirty="0"/>
              <a:t>These low correlation values indicate dater age gaps and race did not significantly affect reported 'like' scores.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266B441-7DBE-FAAB-6E8E-C0CDF62378EA}"/>
              </a:ext>
            </a:extLst>
          </p:cNvPr>
          <p:cNvSpPr txBox="1"/>
          <p:nvPr/>
        </p:nvSpPr>
        <p:spPr>
          <a:xfrm>
            <a:off x="973693" y="5414802"/>
            <a:ext cx="3074613" cy="1038582"/>
          </a:xfrm>
          <a:prstGeom prst="roundRect">
            <a:avLst>
              <a:gd name="adj" fmla="val 3495"/>
            </a:avLst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100" b="1" u="sng" dirty="0"/>
              <a:t>Table 1:</a:t>
            </a:r>
            <a:r>
              <a:rPr lang="en-US" sz="1100" dirty="0"/>
              <a:t> Count of missing vs populated values in speed dating data</a:t>
            </a:r>
          </a:p>
          <a:p>
            <a:endParaRPr lang="en-US" sz="1100" dirty="0"/>
          </a:p>
          <a:p>
            <a:pPr algn="ctr"/>
            <a:r>
              <a:rPr lang="en-US" sz="1100" u="sng" dirty="0"/>
              <a:t>N Miss </a:t>
            </a:r>
            <a:r>
              <a:rPr lang="en-US" sz="1100" dirty="0"/>
              <a:t>= number of missing observations </a:t>
            </a:r>
          </a:p>
          <a:p>
            <a:pPr algn="ctr"/>
            <a:r>
              <a:rPr lang="en-US" sz="1100" u="sng" dirty="0"/>
              <a:t>N</a:t>
            </a:r>
            <a:r>
              <a:rPr lang="en-US" sz="1100" dirty="0"/>
              <a:t> = number of complete observations</a:t>
            </a:r>
          </a:p>
        </p:txBody>
      </p:sp>
    </p:spTree>
    <p:extLst>
      <p:ext uri="{BB962C8B-B14F-4D97-AF65-F5344CB8AC3E}">
        <p14:creationId xmlns:p14="http://schemas.microsoft.com/office/powerpoint/2010/main" val="1018155194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A3E8498D-DA8F-EF6C-5420-F153D4979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7B59046-A577-BD0E-6595-78BD0AE19A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7091" y="1814321"/>
            <a:ext cx="7772400" cy="4560920"/>
          </a:xfrm>
        </p:spPr>
        <p:txBody>
          <a:bodyPr anchor="b">
            <a:normAutofit/>
          </a:bodyPr>
          <a:lstStyle/>
          <a:p>
            <a:pPr algn="l"/>
            <a:r>
              <a:rPr lang="en-US" sz="7400"/>
              <a:t>Model Creation and Analysis</a:t>
            </a:r>
          </a:p>
        </p:txBody>
      </p:sp>
    </p:spTree>
    <p:extLst>
      <p:ext uri="{BB962C8B-B14F-4D97-AF65-F5344CB8AC3E}">
        <p14:creationId xmlns:p14="http://schemas.microsoft.com/office/powerpoint/2010/main" val="421690327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E8D3B17-7638-DFD3-18E4-8A6D61174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6BE14E-9286-7377-1A31-1FEB81320E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8537" y="603504"/>
            <a:ext cx="5916168" cy="152704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Data Splitting and Cross Validation</a:t>
            </a:r>
          </a:p>
        </p:txBody>
      </p:sp>
      <p:pic>
        <p:nvPicPr>
          <p:cNvPr id="5" name="Content Placeholder 4" descr="Red Communication bubbles with copy space are connected each other with black arrows. This image shows the social media, and online communication between people.">
            <a:extLst>
              <a:ext uri="{FF2B5EF4-FFF2-40B4-BE49-F238E27FC236}">
                <a16:creationId xmlns:a16="http://schemas.microsoft.com/office/drawing/2014/main" id="{AB5DD2BE-97B2-43C0-8A3F-A9D0718DCD98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rcRect l="19215" r="32991" b="-1"/>
          <a:stretch/>
        </p:blipFill>
        <p:spPr>
          <a:xfrm>
            <a:off x="20" y="10"/>
            <a:ext cx="4910308" cy="6857990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CE3237-7E56-534B-1CA8-81041B9A30B8}"/>
              </a:ext>
            </a:extLst>
          </p:cNvPr>
          <p:cNvSpPr>
            <a:spLocks noGrp="1"/>
          </p:cNvSpPr>
          <p:nvPr>
            <p:ph sz="half" idx="2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5568537" y="2214282"/>
            <a:ext cx="5916168" cy="4095078"/>
          </a:xfrm>
        </p:spPr>
        <p:txBody>
          <a:bodyPr>
            <a:normAutofit/>
          </a:bodyPr>
          <a:lstStyle/>
          <a:p>
            <a:pPr marL="0" indent="0">
              <a:spcBef>
                <a:spcPts val="2500"/>
              </a:spcBef>
              <a:buNone/>
            </a:pPr>
            <a:r>
              <a:rPr lang="en-US" sz="1400" b="1" dirty="0"/>
              <a:t>Data Splitting Methodology</a:t>
            </a:r>
          </a:p>
          <a:p>
            <a:pPr marL="285750" lvl="1" indent="-285750"/>
            <a:r>
              <a:rPr lang="en-US" sz="1400" dirty="0"/>
              <a:t>Initial split: Male dater responses &amp; Female dater responses</a:t>
            </a:r>
          </a:p>
          <a:p>
            <a:pPr marL="285750" lvl="1" indent="-285750"/>
            <a:r>
              <a:rPr lang="en-US" sz="1400" dirty="0"/>
              <a:t>Second split: 80:20 split into training and testing data</a:t>
            </a:r>
          </a:p>
          <a:p>
            <a:pPr marL="514350" lvl="2" indent="-285750"/>
            <a:r>
              <a:rPr lang="en-US" sz="1200" dirty="0"/>
              <a:t>221 Training observations</a:t>
            </a:r>
          </a:p>
          <a:p>
            <a:pPr marL="514350" lvl="2" indent="-285750"/>
            <a:r>
              <a:rPr lang="en-US" sz="1200" dirty="0"/>
              <a:t>55 Test observations</a:t>
            </a:r>
          </a:p>
          <a:p>
            <a:pPr marL="228600" lvl="2" indent="0">
              <a:buNone/>
            </a:pPr>
            <a:r>
              <a:rPr lang="en-US" sz="1200" b="1" dirty="0"/>
              <a:t>NOTE:</a:t>
            </a:r>
            <a:r>
              <a:rPr lang="en-US" sz="1200" dirty="0"/>
              <a:t> Totals do not account for observations dropped due to missing values</a:t>
            </a:r>
          </a:p>
          <a:p>
            <a:pPr marL="0" indent="0">
              <a:spcBef>
                <a:spcPts val="2500"/>
              </a:spcBef>
              <a:buNone/>
            </a:pPr>
            <a:r>
              <a:rPr lang="en-US" sz="1400" b="1" dirty="0"/>
              <a:t>Cross Validation Process</a:t>
            </a:r>
          </a:p>
          <a:p>
            <a:pPr marL="285750" lvl="1" indent="-285750"/>
            <a:r>
              <a:rPr lang="en-US" sz="1400" dirty="0"/>
              <a:t>Prediction models developed on training data sets</a:t>
            </a:r>
          </a:p>
          <a:p>
            <a:pPr marL="285750" lvl="1" indent="-285750"/>
            <a:r>
              <a:rPr lang="en-US" sz="1400" dirty="0"/>
              <a:t>Models tested on test data sets</a:t>
            </a:r>
          </a:p>
          <a:p>
            <a:pPr marL="285750" lvl="1" indent="-285750"/>
            <a:r>
              <a:rPr lang="en-US" sz="1400" dirty="0"/>
              <a:t>Ensures model is not over-fitted to data</a:t>
            </a:r>
          </a:p>
          <a:p>
            <a:pPr marL="514350" lvl="2" indent="-285750"/>
            <a:r>
              <a:rPr lang="en-US" sz="1200" dirty="0"/>
              <a:t>Allows for adequate predictions after introduction of new data</a:t>
            </a:r>
          </a:p>
        </p:txBody>
      </p:sp>
    </p:spTree>
    <p:extLst>
      <p:ext uri="{BB962C8B-B14F-4D97-AF65-F5344CB8AC3E}">
        <p14:creationId xmlns:p14="http://schemas.microsoft.com/office/powerpoint/2010/main" val="554374605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1D421E-DF9F-C922-50A0-555B41F970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800" y="268844"/>
            <a:ext cx="10745788" cy="114329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Prediction Model </a:t>
            </a:r>
            <a:br>
              <a:rPr lang="en-US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Development Process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B57E1C2-11A7-7B03-6C4D-48674E7672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6800" y="1433735"/>
            <a:ext cx="5157787" cy="559834"/>
          </a:xfrm>
        </p:spPr>
        <p:txBody>
          <a:bodyPr/>
          <a:lstStyle/>
          <a:p>
            <a:r>
              <a:rPr lang="en-US" dirty="0">
                <a:solidFill>
                  <a:schemeClr val="accent6"/>
                </a:solidFill>
              </a:rPr>
              <a:t>Male Model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B438F42-D750-A870-76DA-F12714EC05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16800" y="2134894"/>
            <a:ext cx="5788800" cy="3765089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Pre-model creation checks</a:t>
            </a:r>
          </a:p>
          <a:p>
            <a:pPr lvl="1"/>
            <a:r>
              <a:rPr lang="en-US" dirty="0"/>
              <a:t>Attractiveness indicated as potentially present in 2</a:t>
            </a:r>
            <a:r>
              <a:rPr lang="en-US" baseline="30000" dirty="0"/>
              <a:t>nd</a:t>
            </a:r>
            <a:r>
              <a:rPr lang="en-US" dirty="0"/>
              <a:t> order</a:t>
            </a:r>
          </a:p>
          <a:p>
            <a:pPr lvl="1"/>
            <a:r>
              <a:rPr lang="en-US" dirty="0"/>
              <a:t>Pairwise interactions included</a:t>
            </a:r>
          </a:p>
          <a:p>
            <a:pPr>
              <a:spcBef>
                <a:spcPts val="1200"/>
              </a:spcBef>
            </a:pPr>
            <a:r>
              <a:rPr lang="en-US" dirty="0"/>
              <a:t>Initial model</a:t>
            </a:r>
          </a:p>
          <a:p>
            <a:pPr lvl="1"/>
            <a:r>
              <a:rPr lang="en-US" dirty="0"/>
              <a:t>Violated regression assumption of normal residual distribution &amp; homoscedasticity (standard variance)</a:t>
            </a:r>
          </a:p>
          <a:p>
            <a:pPr>
              <a:spcBef>
                <a:spcPts val="1200"/>
              </a:spcBef>
            </a:pPr>
            <a:r>
              <a:rPr lang="en-US" dirty="0"/>
              <a:t>Final Model</a:t>
            </a:r>
          </a:p>
          <a:p>
            <a:pPr lvl="1"/>
            <a:r>
              <a:rPr lang="en-US" dirty="0"/>
              <a:t>Like score squared to ensure standard variance &amp; improve normal distribution</a:t>
            </a:r>
          </a:p>
          <a:p>
            <a:pPr lvl="1"/>
            <a:r>
              <a:rPr lang="en-US" dirty="0"/>
              <a:t>Stepwise forward selection utilized</a:t>
            </a:r>
          </a:p>
          <a:p>
            <a:pPr lvl="2"/>
            <a:r>
              <a:rPr lang="en-US" dirty="0"/>
              <a:t>Ensures variables dropped if significance changes as model grows</a:t>
            </a:r>
          </a:p>
          <a:p>
            <a:pPr lvl="1"/>
            <a:r>
              <a:rPr lang="en-US" dirty="0"/>
              <a:t>Calculated shrinkage (0.0623) indicates reliable model</a:t>
            </a:r>
          </a:p>
          <a:p>
            <a:pPr lvl="1"/>
            <a:r>
              <a:rPr lang="en-US" dirty="0"/>
              <a:t>No collinearity identified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0EAEDEE6-AD63-7253-9EBA-E3A96AAD89F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04599" y="1433735"/>
            <a:ext cx="5183188" cy="559834"/>
          </a:xfrm>
        </p:spPr>
        <p:txBody>
          <a:bodyPr/>
          <a:lstStyle/>
          <a:p>
            <a:r>
              <a:rPr lang="en-US" dirty="0">
                <a:solidFill>
                  <a:schemeClr val="accent5"/>
                </a:solidFill>
              </a:rPr>
              <a:t>Female model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8438D87-7E6A-8F38-F613-D98E84CA6C4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04599" y="2134894"/>
            <a:ext cx="5788800" cy="3765089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Pre-model creation checks</a:t>
            </a:r>
          </a:p>
          <a:p>
            <a:pPr lvl="1"/>
            <a:r>
              <a:rPr lang="en-US" dirty="0"/>
              <a:t>Only single order terms identified</a:t>
            </a:r>
          </a:p>
          <a:p>
            <a:pPr lvl="1"/>
            <a:r>
              <a:rPr lang="en-US" dirty="0"/>
              <a:t>Pairwise interactions included</a:t>
            </a:r>
          </a:p>
          <a:p>
            <a:pPr>
              <a:spcBef>
                <a:spcPts val="1200"/>
              </a:spcBef>
            </a:pPr>
            <a:r>
              <a:rPr lang="en-US" dirty="0"/>
              <a:t>Initial Model</a:t>
            </a:r>
          </a:p>
          <a:p>
            <a:pPr lvl="1"/>
            <a:r>
              <a:rPr lang="en-US" dirty="0"/>
              <a:t>Violated regression assumption of normal residual distribution &amp; homoscedasticity (standard variance)</a:t>
            </a:r>
          </a:p>
          <a:p>
            <a:pPr>
              <a:spcBef>
                <a:spcPts val="1200"/>
              </a:spcBef>
            </a:pPr>
            <a:r>
              <a:rPr lang="en-US" dirty="0"/>
              <a:t>Final Model</a:t>
            </a:r>
          </a:p>
          <a:p>
            <a:pPr lvl="1"/>
            <a:r>
              <a:rPr lang="en-US" dirty="0"/>
              <a:t>Like score squared to ensure standard variance &amp; improve normal distribution</a:t>
            </a:r>
          </a:p>
          <a:p>
            <a:pPr lvl="1"/>
            <a:r>
              <a:rPr lang="en-US" dirty="0"/>
              <a:t>Stepwise forward selection utilized</a:t>
            </a:r>
          </a:p>
          <a:p>
            <a:pPr lvl="2"/>
            <a:r>
              <a:rPr lang="en-US" dirty="0"/>
              <a:t>Ensures variables dropped if significance changes as model grows</a:t>
            </a:r>
          </a:p>
          <a:p>
            <a:pPr lvl="1"/>
            <a:r>
              <a:rPr lang="en-US" dirty="0"/>
              <a:t>Calculated shrinkage (-0.0659) indicates reliable model </a:t>
            </a:r>
          </a:p>
          <a:p>
            <a:pPr lvl="1"/>
            <a:r>
              <a:rPr lang="en-US" dirty="0"/>
              <a:t>No collinearity identified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: Rounded Corners 11">
                <a:extLst>
                  <a:ext uri="{FF2B5EF4-FFF2-40B4-BE49-F238E27FC236}">
                    <a16:creationId xmlns:a16="http://schemas.microsoft.com/office/drawing/2014/main" id="{6FBD7620-B4DE-285A-8612-0C631703D7F4}"/>
                  </a:ext>
                </a:extLst>
              </p:cNvPr>
              <p:cNvSpPr/>
              <p:nvPr/>
            </p:nvSpPr>
            <p:spPr>
              <a:xfrm>
                <a:off x="8424000" y="127518"/>
                <a:ext cx="3427200" cy="1143293"/>
              </a:xfrm>
              <a:prstGeom prst="roundRect">
                <a:avLst/>
              </a:prstGeom>
              <a:solidFill>
                <a:schemeClr val="accent5"/>
              </a:solidFill>
              <a:ln>
                <a:solidFill>
                  <a:schemeClr val="accent5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1200" b="1" dirty="0"/>
                  <a:t>Regression Assumptions </a:t>
                </a:r>
                <a14:m>
                  <m:oMath xmlns:m="http://schemas.openxmlformats.org/officeDocument/2006/math">
                    <m:borderBox>
                      <m:borderBoxPr>
                        <m:ctrlPr>
                          <a:rPr lang="pt-BR" sz="1200" i="1" smtClean="0">
                            <a:latin typeface="Cambria Math" panose="02040503050406030204" pitchFamily="18" charset="0"/>
                          </a:rPr>
                        </m:ctrlPr>
                      </m:borderBoxPr>
                      <m:e>
                        <m:acc>
                          <m:accPr>
                            <m:chr m:val="̂"/>
                            <m:ctrlPr>
                              <a:rPr lang="pt-BR" sz="120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</m:acc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acc>
                          <m:accPr>
                            <m:chr m:val="̃"/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𝑖𝑖𝑑</m:t>
                            </m:r>
                          </m:e>
                        </m:acc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</m:t>
                        </m:r>
                        <m:sSup>
                          <m:sSup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</m:borderBox>
                    <m:r>
                      <a:rPr lang="en-US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200" b="1" dirty="0"/>
                  <a:t>:</a:t>
                </a:r>
              </a:p>
              <a:p>
                <a:pPr marL="285750" indent="-285750">
                  <a:buFontTx/>
                  <a:buChar char="-"/>
                </a:pPr>
                <a:r>
                  <a:rPr lang="en-US" sz="1200" dirty="0"/>
                  <a:t>Residuals Normally Distributed</a:t>
                </a:r>
              </a:p>
              <a:p>
                <a:pPr marL="285750" indent="-285750">
                  <a:buFontTx/>
                  <a:buChar char="-"/>
                </a:pPr>
                <a:r>
                  <a:rPr lang="en-US" sz="1200" dirty="0"/>
                  <a:t>Residual Mean = 0</a:t>
                </a:r>
              </a:p>
              <a:p>
                <a:pPr marL="285750" indent="-285750">
                  <a:buFontTx/>
                  <a:buChar char="-"/>
                </a:pPr>
                <a:r>
                  <a:rPr lang="en-US" sz="1200" dirty="0"/>
                  <a:t>Residual Variance is Constant</a:t>
                </a:r>
              </a:p>
              <a:p>
                <a:pPr marL="285750" indent="-285750">
                  <a:buFontTx/>
                  <a:buChar char="-"/>
                </a:pPr>
                <a:r>
                  <a:rPr lang="en-US" sz="1200" dirty="0"/>
                  <a:t>All Predictor Variables Independent</a:t>
                </a:r>
              </a:p>
            </p:txBody>
          </p:sp>
        </mc:Choice>
        <mc:Fallback xmlns="">
          <p:sp>
            <p:nvSpPr>
              <p:cNvPr id="12" name="Rectangle: Rounded Corners 11">
                <a:extLst>
                  <a:ext uri="{FF2B5EF4-FFF2-40B4-BE49-F238E27FC236}">
                    <a16:creationId xmlns:a16="http://schemas.microsoft.com/office/drawing/2014/main" id="{6FBD7620-B4DE-285A-8612-0C631703D7F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24000" y="127518"/>
                <a:ext cx="3427200" cy="1143293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accent5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DE9C83AA-9BA0-5D1F-A82E-B2537B5C3640}"/>
              </a:ext>
            </a:extLst>
          </p:cNvPr>
          <p:cNvSpPr txBox="1"/>
          <p:nvPr/>
        </p:nvSpPr>
        <p:spPr>
          <a:xfrm>
            <a:off x="613247" y="6041308"/>
            <a:ext cx="5195907" cy="578882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/>
              <a:t>Like</a:t>
            </a:r>
            <a:r>
              <a:rPr lang="en-US" sz="1400" baseline="-25000" dirty="0"/>
              <a:t>M</a:t>
            </a:r>
            <a:r>
              <a:rPr lang="en-US" sz="1400" baseline="30000" dirty="0"/>
              <a:t>2</a:t>
            </a:r>
            <a:r>
              <a:rPr lang="en-US" sz="1400" dirty="0"/>
              <a:t> ~ Fun + (Attractiveness * Sincerity) + </a:t>
            </a:r>
          </a:p>
          <a:p>
            <a:r>
              <a:rPr lang="en-US" sz="1400" dirty="0"/>
              <a:t>	(Attractiveness * Shared Interests) + Intercept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A44D2F1-E8D3-5179-B90E-3DA3B541CF61}"/>
              </a:ext>
            </a:extLst>
          </p:cNvPr>
          <p:cNvSpPr txBox="1"/>
          <p:nvPr/>
        </p:nvSpPr>
        <p:spPr>
          <a:xfrm>
            <a:off x="6627046" y="6041308"/>
            <a:ext cx="5224154" cy="578882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/>
              <a:t>Like</a:t>
            </a:r>
            <a:r>
              <a:rPr lang="en-US" sz="1400" baseline="-25000" dirty="0"/>
              <a:t>F</a:t>
            </a:r>
            <a:r>
              <a:rPr lang="en-US" sz="1400" baseline="30000" dirty="0"/>
              <a:t>2</a:t>
            </a:r>
            <a:r>
              <a:rPr lang="en-US" sz="1400" dirty="0"/>
              <a:t> ~ (Attractiveness * Fun) + (Sincerity * Intelligence)</a:t>
            </a:r>
          </a:p>
          <a:p>
            <a:r>
              <a:rPr lang="en-US" sz="1400" dirty="0"/>
              <a:t>	(Intelligence * Shared Interests) + Intercept</a:t>
            </a:r>
          </a:p>
        </p:txBody>
      </p:sp>
    </p:spTree>
    <p:extLst>
      <p:ext uri="{BB962C8B-B14F-4D97-AF65-F5344CB8AC3E}">
        <p14:creationId xmlns:p14="http://schemas.microsoft.com/office/powerpoint/2010/main" val="3817018994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" name="Rectangle 1047">
            <a:extLst>
              <a:ext uri="{FF2B5EF4-FFF2-40B4-BE49-F238E27FC236}">
                <a16:creationId xmlns:a16="http://schemas.microsoft.com/office/drawing/2014/main" id="{85C79EA1-86E4-0267-F799-87671476EE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A449F9-1563-1A2A-7526-58B5C7B102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04" y="737829"/>
            <a:ext cx="4325624" cy="1026171"/>
          </a:xfrm>
        </p:spPr>
        <p:txBody>
          <a:bodyPr anchor="t"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Men vs. Women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sz="2800" b="0" dirty="0">
                <a:solidFill>
                  <a:schemeClr val="bg1"/>
                </a:solidFill>
              </a:rPr>
              <a:t>The age-old comparison</a:t>
            </a:r>
            <a:endParaRPr lang="en-US" b="0" dirty="0">
              <a:solidFill>
                <a:schemeClr val="bg1"/>
              </a:solidFill>
            </a:endParaRPr>
          </a:p>
        </p:txBody>
      </p:sp>
      <p:graphicFrame>
        <p:nvGraphicFramePr>
          <p:cNvPr id="1056" name="Content Placeholder 6">
            <a:extLst>
              <a:ext uri="{FF2B5EF4-FFF2-40B4-BE49-F238E27FC236}">
                <a16:creationId xmlns:a16="http://schemas.microsoft.com/office/drawing/2014/main" id="{45DACCC3-51CC-2D61-E682-A903E2BE8E8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37657842"/>
              </p:ext>
            </p:extLst>
          </p:nvPr>
        </p:nvGraphicFramePr>
        <p:xfrm>
          <a:off x="4673708" y="221400"/>
          <a:ext cx="7223620" cy="36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9" name="Picture 8" descr="The SGPlot Procedure">
            <a:extLst>
              <a:ext uri="{FF2B5EF4-FFF2-40B4-BE49-F238E27FC236}">
                <a16:creationId xmlns:a16="http://schemas.microsoft.com/office/drawing/2014/main" id="{E2C29182-539E-DAA4-8C03-EA9A629F6C1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7" r="3" b="3"/>
          <a:stretch/>
        </p:blipFill>
        <p:spPr bwMode="auto">
          <a:xfrm>
            <a:off x="21" y="4116088"/>
            <a:ext cx="3644545" cy="2743200"/>
          </a:xfrm>
          <a:prstGeom prst="rect">
            <a:avLst/>
          </a:prstGeom>
          <a:noFill/>
        </p:spPr>
      </p:pic>
      <p:pic>
        <p:nvPicPr>
          <p:cNvPr id="12" name="Picture 11" descr="The SGPlot Procedure">
            <a:extLst>
              <a:ext uri="{FF2B5EF4-FFF2-40B4-BE49-F238E27FC236}">
                <a16:creationId xmlns:a16="http://schemas.microsoft.com/office/drawing/2014/main" id="{BBC25FC2-CB33-2C61-73FE-D64FC2459AA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" b="783"/>
          <a:stretch/>
        </p:blipFill>
        <p:spPr bwMode="auto">
          <a:xfrm>
            <a:off x="4065983" y="4116088"/>
            <a:ext cx="3686294" cy="2743200"/>
          </a:xfrm>
          <a:prstGeom prst="rect">
            <a:avLst/>
          </a:prstGeom>
          <a:noFill/>
        </p:spPr>
      </p:pic>
      <p:pic>
        <p:nvPicPr>
          <p:cNvPr id="11" name="Picture 10" descr="The SGPlot Procedure">
            <a:extLst>
              <a:ext uri="{FF2B5EF4-FFF2-40B4-BE49-F238E27FC236}">
                <a16:creationId xmlns:a16="http://schemas.microsoft.com/office/drawing/2014/main" id="{2EDDA5D5-7B66-049D-E934-8642888A3A5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4" r="-1" b="-1"/>
          <a:stretch/>
        </p:blipFill>
        <p:spPr bwMode="auto">
          <a:xfrm>
            <a:off x="8177840" y="4110576"/>
            <a:ext cx="3645004" cy="2743200"/>
          </a:xfrm>
          <a:prstGeom prst="rect">
            <a:avLst/>
          </a:prstGeom>
          <a:noFill/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B9A788A5-BAD6-AB07-9F8D-9FCF8A5C3D0F}"/>
              </a:ext>
            </a:extLst>
          </p:cNvPr>
          <p:cNvGrpSpPr/>
          <p:nvPr/>
        </p:nvGrpSpPr>
        <p:grpSpPr>
          <a:xfrm>
            <a:off x="0" y="621806"/>
            <a:ext cx="4394928" cy="2373792"/>
            <a:chOff x="0" y="146606"/>
            <a:chExt cx="4394928" cy="2373792"/>
          </a:xfrm>
        </p:grpSpPr>
        <p:sp>
          <p:nvSpPr>
            <p:cNvPr id="14" name="Rectangle: Top Corners Rounded 13">
              <a:extLst>
                <a:ext uri="{FF2B5EF4-FFF2-40B4-BE49-F238E27FC236}">
                  <a16:creationId xmlns:a16="http://schemas.microsoft.com/office/drawing/2014/main" id="{669FA9EC-85DF-5676-2B52-84B5E358197F}"/>
                </a:ext>
              </a:extLst>
            </p:cNvPr>
            <p:cNvSpPr/>
            <p:nvPr/>
          </p:nvSpPr>
          <p:spPr>
            <a:xfrm rot="5400000">
              <a:off x="975916" y="-829310"/>
              <a:ext cx="2373792" cy="4325624"/>
            </a:xfrm>
            <a:prstGeom prst="round2SameRect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Title 1">
              <a:extLst>
                <a:ext uri="{FF2B5EF4-FFF2-40B4-BE49-F238E27FC236}">
                  <a16:creationId xmlns:a16="http://schemas.microsoft.com/office/drawing/2014/main" id="{016DB242-6355-E236-738D-A396B106EA49}"/>
                </a:ext>
              </a:extLst>
            </p:cNvPr>
            <p:cNvSpPr txBox="1">
              <a:spLocks/>
            </p:cNvSpPr>
            <p:nvPr/>
          </p:nvSpPr>
          <p:spPr>
            <a:xfrm>
              <a:off x="69304" y="820417"/>
              <a:ext cx="4325624" cy="1026171"/>
            </a:xfrm>
            <a:prstGeom prst="rect">
              <a:avLst/>
            </a:prstGeom>
          </p:spPr>
          <p:txBody>
            <a:bodyPr vert="horz" lIns="91440" tIns="45720" rIns="91440" bIns="45720" rtlCol="0" anchor="t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600" b="1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US" dirty="0">
                  <a:solidFill>
                    <a:schemeClr val="bg1"/>
                  </a:solidFill>
                </a:rPr>
                <a:t>Men vs. Women</a:t>
              </a:r>
              <a:br>
                <a:rPr lang="en-US" dirty="0">
                  <a:solidFill>
                    <a:schemeClr val="bg1"/>
                  </a:solidFill>
                </a:rPr>
              </a:br>
              <a:r>
                <a:rPr lang="en-US" sz="2800" b="0" dirty="0">
                  <a:solidFill>
                    <a:schemeClr val="bg1"/>
                  </a:solidFill>
                </a:rPr>
                <a:t>The age-old comparison</a:t>
              </a:r>
              <a:endParaRPr lang="en-US" b="0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87802085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A3E8498D-DA8F-EF6C-5420-F153D4979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A5E9C2C-9FC4-68D7-EDD1-021364005B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7091" y="1814321"/>
            <a:ext cx="7772400" cy="4560920"/>
          </a:xfrm>
        </p:spPr>
        <p:txBody>
          <a:bodyPr anchor="b">
            <a:normAutofit/>
          </a:bodyPr>
          <a:lstStyle/>
          <a:p>
            <a:pPr algn="l"/>
            <a:r>
              <a:rPr lang="en-US" sz="7400"/>
              <a:t>Summary of Findings</a:t>
            </a:r>
          </a:p>
        </p:txBody>
      </p:sp>
    </p:spTree>
    <p:extLst>
      <p:ext uri="{BB962C8B-B14F-4D97-AF65-F5344CB8AC3E}">
        <p14:creationId xmlns:p14="http://schemas.microsoft.com/office/powerpoint/2010/main" val="257176379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01A22726-DA03-BCB0-F12E-98258FB7E5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C7A957-E3EA-D4BC-B84C-FBF6684DE1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548640"/>
            <a:ext cx="9160475" cy="1132258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bg1"/>
            </a:solidFill>
          </a:ln>
        </p:spPr>
        <p:txBody>
          <a:bodyPr anchor="ctr">
            <a:normAutofit/>
          </a:bodyPr>
          <a:lstStyle/>
          <a:p>
            <a:pPr algn="ctr"/>
            <a:r>
              <a:rPr lang="en-US" dirty="0"/>
              <a:t>Findings and Recommendations </a:t>
            </a:r>
          </a:p>
        </p:txBody>
      </p:sp>
      <p:graphicFrame>
        <p:nvGraphicFramePr>
          <p:cNvPr id="9" name="Content Placeholder 2">
            <a:extLst>
              <a:ext uri="{FF2B5EF4-FFF2-40B4-BE49-F238E27FC236}">
                <a16:creationId xmlns:a16="http://schemas.microsoft.com/office/drawing/2014/main" id="{9E4B5A80-3319-B8EA-7393-B34F4983AA5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71458241"/>
              </p:ex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GraphicFramePr>
        <p:xfrm>
          <a:off x="930876" y="1972800"/>
          <a:ext cx="10335350" cy="4557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785895358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195</TotalTime>
  <Words>1047</Words>
  <Application>Microsoft Office PowerPoint</Application>
  <PresentationFormat>Widescreen</PresentationFormat>
  <Paragraphs>152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Aptos</vt:lpstr>
      <vt:lpstr>Arial</vt:lpstr>
      <vt:lpstr>Cambria Math</vt:lpstr>
      <vt:lpstr>Neue Haas Grotesk Text Pro</vt:lpstr>
      <vt:lpstr>VanillaVTI</vt:lpstr>
      <vt:lpstr>Pizzaz.com Analysis</vt:lpstr>
      <vt:lpstr>Introduction </vt:lpstr>
      <vt:lpstr>What Makes Pizzaz.com Unique?</vt:lpstr>
      <vt:lpstr>Proposed User Customization Features</vt:lpstr>
      <vt:lpstr>Speed Dating Data Overview</vt:lpstr>
      <vt:lpstr>Data Collection and Characteristics</vt:lpstr>
      <vt:lpstr>Missing Values and Summary Statistics</vt:lpstr>
      <vt:lpstr>Model Creation and Analysis</vt:lpstr>
      <vt:lpstr>Data Splitting and Cross Validation</vt:lpstr>
      <vt:lpstr>Prediction Model  Development Process</vt:lpstr>
      <vt:lpstr>Men vs. Women The age-old comparison</vt:lpstr>
      <vt:lpstr>Summary of Findings</vt:lpstr>
      <vt:lpstr>Findings and Recommendations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Natalie LePera</dc:creator>
  <cp:lastModifiedBy>Natalie LePera</cp:lastModifiedBy>
  <cp:revision>10</cp:revision>
  <dcterms:created xsi:type="dcterms:W3CDTF">2025-04-24T11:55:15Z</dcterms:created>
  <dcterms:modified xsi:type="dcterms:W3CDTF">2025-04-24T19:10:22Z</dcterms:modified>
</cp:coreProperties>
</file>